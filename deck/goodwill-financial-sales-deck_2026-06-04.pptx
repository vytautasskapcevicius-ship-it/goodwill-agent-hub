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 thank them, set the agenda, confirm their time. This is a flexible deck — present the intro + the 2-3 concepts that fit this prospect; you don't have to show every slide. Replace [Client Name]/[Date] before the call.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trust fast: independent (objective), local, family-owned, multilingual. Keep it short.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buy insurance one piece at a time and end up with gaps. We protect the whole household. The gold pills (Life, Retirement) are where most families are least covered.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shop dozens of A-rated carriers so you get the right coverage at the right price — including specialty trucking/commercial markets (Northland, Canal, GUARD). Because we're independent, we compare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living-benefits life business runs through Alliance Group. National Life Group is the foundation (175+ yrs, A+, #1 IUL). NOTE for Vytas: research shows Corebridge is not on Alliance Group's public carrier list — confirm you have that appointment, or I'll swap it for GPM Life / Transamerica which ARE on the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out 'total protection' with health: BCBS, Humana, UnitedHealthcare, Aetna. Good cross-sell anchor for business owners and families.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Footprint = union of the firm (Goodwill Financial Group) + Vytas's producer licenses, ACTIVE states only. Source: SureLC. Excluded: Colorado firm license (expired 06/01/2026) — though Vytas's personal CO license is active, so CO is included via the union. Note: Arizona active but lapses 06/30/2026. 26 states gold on the map, Illinois navy = home. Re-run with updated state list if licensing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Signature line — say it out loud: 'life insurance you don't have to die to use.' Rotary vs smartphone lands with everyone. COMPLIANCE: say 'may' — Living Benefits are optional riders, vary by product/state, and reduce the death benefit when used.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National Life's three-need framework — the backbone of every concept that follows. Tie each prospect's situation to one or more of these.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menu — 'easy to use.' In PowerPoint AND the web viewer each card is clickable and jumps to that concept. Point to the one that fits the prospect; you rarely present all in one meeting.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 is the right tool for many budgets — say so. It's the entry point; many clients later convert part of it to permanent. COMPLIANCE: most term never pays out (people outlive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LANDMINE: IUL is life insurance, NOT an investment, and does not directly participate in the stock market. It has a cap and a floor. Illustrated values are non-guaranteed. Loans/withdrawals reduce cash value and death benefit.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 don't bash term. The mortgage-payment analogy works: a mortgage = escrow + interest + principal (principal builds equity); permanent = cost of insurance + riders + cash value that builds.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 'your homeowners policy protects the house; what protects the mortgage payment?' Discovery: mortgage balance, monthly payment INCLUDING escrow, who's on the loan. Position the field-underwriter role.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LANDMINE: do NOT promise the policy is 'paid up' or guaranteed to never need premium — continuation depends on funding and performance; illustrated values are non-guaranteed. Always show a carrier illustration with guaranteed AND non-guaranteed columns.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LIRP / tax-free retirement concept. COMPLIANCE: don't call IUL an investment; 'tax-free' = properly-structured policy loans, not a guarantee; loans/withdrawals reduce cash value &amp; death benefit; lapse with a loan can be taxable; refer tax questions to a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emotional peak and the differentiator. COMPLIANCE: optional riders (ABR); reduce death benefit/cash value; may be taxable; may affect public-assistance; depend on product/state/claim-time. Never say 'free' or 'guaranteed payout.'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Bridges to your P&amp;C commercial book — same owner, deeper relationship. Use the Business Fact Finder. Refer tax/legal structuring to the client's CPA/attorney.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fixed indexed annuities don't directly participate in equities; guaranteed income riders are subject to conditions and rider charges; all guarantees depend on the issuer's claims-paying 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slide. Whatever concept you presented, land here: the same plan protects the family now and builds for later.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De-risk the decision: short, transparent, pressure-free. Step 1 is today/next; step 5 shows we stick around.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ONE concrete next step — book the follow-up. Restate 'no obligation.' Referral ask one name at a time. Swap presenter block if another agent uses this deck.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in the file. Read/provide whenever you show numbers or illustrations. Carrier logos shown under nominative fair use to indicate represented carriers.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g"/><Relationship Id="rId9" Type="http://schemas.openxmlformats.org/officeDocument/2006/relationships/image" Target="../media/image8.png"/><Relationship Id="rId10" Type="http://schemas.openxmlformats.org/officeDocument/2006/relationships/image" Target="../media/image9.jp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48640"/>
            <a:ext cx="7315200" cy="365760"/>
          </a:xfrm>
          <a:prstGeom prst="rect">
            <a:avLst/>
          </a:prstGeom>
          <a:noFill/>
        </p:spPr>
        <p:txBody>
          <a:bodyPr wrap="square" anchor="t">
            <a:spAutoFit/>
          </a:bodyPr>
          <a:lstStyle/>
          <a:p>
            <a:pPr algn="l">
              <a:lnSpc>
                <a:spcPct val="104000"/>
              </a:lnSpc>
              <a:spcAft>
                <a:spcPts val="0"/>
              </a:spcAft>
            </a:pPr>
            <a:r>
              <a:rPr sz="1500" b="1">
                <a:solidFill>
                  <a:srgbClr val="FFFFFF"/>
                </a:solidFill>
                <a:latin typeface="Segoe UI Semibold"/>
              </a:rPr>
              <a:t>GOODWILL FINANCIAL</a:t>
            </a:r>
          </a:p>
        </p:txBody>
      </p:sp>
      <p:sp>
        <p:nvSpPr>
          <p:cNvPr id="4" name="TextBox 3"/>
          <p:cNvSpPr txBox="1"/>
          <p:nvPr/>
        </p:nvSpPr>
        <p:spPr>
          <a:xfrm>
            <a:off x="640080" y="850392"/>
            <a:ext cx="7315200" cy="274320"/>
          </a:xfrm>
          <a:prstGeom prst="rect">
            <a:avLst/>
          </a:prstGeom>
          <a:noFill/>
        </p:spPr>
        <p:txBody>
          <a:bodyPr wrap="square" anchor="t">
            <a:spAutoFit/>
          </a:bodyPr>
          <a:lstStyle/>
          <a:p>
            <a:pPr algn="l">
              <a:lnSpc>
                <a:spcPct val="104000"/>
              </a:lnSpc>
              <a:spcAft>
                <a:spcPts val="0"/>
              </a:spcAft>
            </a:pPr>
            <a:r>
              <a:rPr sz="1000" b="1">
                <a:solidFill>
                  <a:srgbClr val="C9A227"/>
                </a:solidFill>
                <a:latin typeface="Segoe UI"/>
              </a:rPr>
              <a:t>LIVING BENEFITS TEAM</a:t>
            </a:r>
          </a:p>
        </p:txBody>
      </p:sp>
      <p:sp>
        <p:nvSpPr>
          <p:cNvPr id="5" name="TextBox 4"/>
          <p:cNvSpPr txBox="1"/>
          <p:nvPr/>
        </p:nvSpPr>
        <p:spPr>
          <a:xfrm>
            <a:off x="640080" y="2240280"/>
            <a:ext cx="10972800" cy="1554480"/>
          </a:xfrm>
          <a:prstGeom prst="rect">
            <a:avLst/>
          </a:prstGeom>
          <a:noFill/>
        </p:spPr>
        <p:txBody>
          <a:bodyPr wrap="square" anchor="t">
            <a:spAutoFit/>
          </a:bodyPr>
          <a:lstStyle/>
          <a:p>
            <a:pPr algn="l">
              <a:lnSpc>
                <a:spcPct val="100000"/>
              </a:lnSpc>
              <a:spcAft>
                <a:spcPts val="0"/>
              </a:spcAft>
            </a:pPr>
            <a:r>
              <a:rPr sz="5000" b="1">
                <a:solidFill>
                  <a:srgbClr val="FFFFFF"/>
                </a:solidFill>
                <a:latin typeface="Segoe UI Semibold"/>
              </a:rPr>
              <a:t>Protect Today.</a:t>
            </a:r>
          </a:p>
          <a:p>
            <a:pPr algn="l">
              <a:lnSpc>
                <a:spcPct val="100000"/>
              </a:lnSpc>
              <a:spcAft>
                <a:spcPts val="0"/>
              </a:spcAft>
            </a:pPr>
            <a:r>
              <a:rPr sz="5000" b="1">
                <a:solidFill>
                  <a:srgbClr val="FFFFFF"/>
                </a:solidFill>
                <a:latin typeface="Segoe UI Semibold"/>
              </a:rPr>
              <a:t>Prepare for Tomorrow.</a:t>
            </a:r>
          </a:p>
        </p:txBody>
      </p:sp>
      <p:sp>
        <p:nvSpPr>
          <p:cNvPr id="6" name="Rectangle 5"/>
          <p:cNvSpPr/>
          <p:nvPr/>
        </p:nvSpPr>
        <p:spPr>
          <a:xfrm>
            <a:off x="658368" y="3858768"/>
            <a:ext cx="100584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023360"/>
            <a:ext cx="10515600" cy="548640"/>
          </a:xfrm>
          <a:prstGeom prst="rect">
            <a:avLst/>
          </a:prstGeom>
          <a:noFill/>
        </p:spPr>
        <p:txBody>
          <a:bodyPr wrap="square" anchor="t">
            <a:spAutoFit/>
          </a:bodyPr>
          <a:lstStyle/>
          <a:p>
            <a:pPr algn="l">
              <a:lnSpc>
                <a:spcPct val="104000"/>
              </a:lnSpc>
              <a:spcAft>
                <a:spcPts val="0"/>
              </a:spcAft>
            </a:pPr>
            <a:r>
              <a:rPr sz="1900" b="0">
                <a:solidFill>
                  <a:srgbClr val="E7C96B"/>
                </a:solidFill>
                <a:latin typeface="Segoe UI"/>
              </a:rPr>
              <a:t>Who we are, who we work with, and how we protect families &amp; businesses</a:t>
            </a:r>
          </a:p>
        </p:txBody>
      </p:sp>
      <p:sp>
        <p:nvSpPr>
          <p:cNvPr id="8" name="TextBox 7"/>
          <p:cNvSpPr txBox="1"/>
          <p:nvPr/>
        </p:nvSpPr>
        <p:spPr>
          <a:xfrm>
            <a:off x="640080" y="5029200"/>
            <a:ext cx="10058400" cy="365760"/>
          </a:xfrm>
          <a:prstGeom prst="rect">
            <a:avLst/>
          </a:prstGeom>
          <a:noFill/>
        </p:spPr>
        <p:txBody>
          <a:bodyPr wrap="square" anchor="t">
            <a:spAutoFit/>
          </a:bodyPr>
          <a:lstStyle/>
          <a:p>
            <a:pPr algn="l">
              <a:lnSpc>
                <a:spcPct val="104000"/>
              </a:lnSpc>
              <a:spcAft>
                <a:spcPts val="0"/>
              </a:spcAft>
            </a:pPr>
            <a:r>
              <a:rPr sz="1400" b="0">
                <a:solidFill>
                  <a:srgbClr val="FFFFFF"/>
                </a:solidFill>
                <a:latin typeface="Segoe UI"/>
              </a:rPr>
              <a:t>Prepared for [Client Name]   ·   [Date]</a:t>
            </a:r>
          </a:p>
        </p:txBody>
      </p:sp>
      <p:sp>
        <p:nvSpPr>
          <p:cNvPr id="9" name="TextBox 8"/>
          <p:cNvSpPr txBox="1"/>
          <p:nvPr/>
        </p:nvSpPr>
        <p:spPr>
          <a:xfrm>
            <a:off x="640080" y="5897880"/>
            <a:ext cx="10972800" cy="548640"/>
          </a:xfrm>
          <a:prstGeom prst="rect">
            <a:avLst/>
          </a:prstGeom>
          <a:noFill/>
        </p:spPr>
        <p:txBody>
          <a:bodyPr wrap="square" anchor="t">
            <a:spAutoFit/>
          </a:bodyPr>
          <a:lstStyle/>
          <a:p>
            <a:pPr algn="l">
              <a:lnSpc>
                <a:spcPct val="104000"/>
              </a:lnSpc>
              <a:spcAft>
                <a:spcPts val="0"/>
              </a:spcAft>
            </a:pPr>
            <a:r>
              <a:rPr sz="1100" b="0">
                <a:solidFill>
                  <a:srgbClr val="C9D2DE"/>
                </a:solidFill>
                <a:latin typeface="Segoe UI"/>
              </a:rPr>
              <a:t>Presented by Vytas Skapcevicius   ·   630-785-2412   ·   vytas@goodwillfinancial.com   ·   goodwillfinancial.com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WHO WE ARE</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An independent agency built to protect families</a:t>
            </a:r>
          </a:p>
        </p:txBody>
      </p:sp>
      <p:sp>
        <p:nvSpPr>
          <p:cNvPr id="7" name="TextBox 6"/>
          <p:cNvSpPr txBox="1"/>
          <p:nvPr/>
        </p:nvSpPr>
        <p:spPr>
          <a:xfrm>
            <a:off x="548640" y="2788920"/>
            <a:ext cx="7498079" cy="3108960"/>
          </a:xfrm>
          <a:prstGeom prst="rect">
            <a:avLst/>
          </a:prstGeom>
          <a:noFill/>
        </p:spPr>
        <p:txBody>
          <a:bodyPr wrap="square">
            <a:spAutoFit/>
          </a:bodyPr>
          <a:lstStyle/>
          <a:p>
            <a:pPr>
              <a:lnSpc>
                <a:spcPct val="105000"/>
              </a:lnSpc>
              <a:spcAft>
                <a:spcPts val="1500"/>
              </a:spcAft>
            </a:pPr>
            <a:r>
              <a:rPr sz="1850" b="1">
                <a:solidFill>
                  <a:srgbClr val="C9A227"/>
                </a:solidFill>
                <a:latin typeface="Segoe UI"/>
              </a:rPr>
              <a:t>▪  </a:t>
            </a:r>
            <a:r>
              <a:rPr sz="1850">
                <a:solidFill>
                  <a:srgbClr val="1A2433"/>
                </a:solidFill>
                <a:latin typeface="Segoe UI"/>
              </a:rPr>
              <a:t>Independent agency in Elmhurst, IL — we work for you, not for one insurance company.</a:t>
            </a:r>
          </a:p>
          <a:p>
            <a:pPr>
              <a:lnSpc>
                <a:spcPct val="105000"/>
              </a:lnSpc>
              <a:spcAft>
                <a:spcPts val="1500"/>
              </a:spcAft>
            </a:pPr>
            <a:r>
              <a:rPr sz="1850" b="1">
                <a:solidFill>
                  <a:srgbClr val="C9A227"/>
                </a:solidFill>
                <a:latin typeface="Segoe UI"/>
              </a:rPr>
              <a:t>▪  </a:t>
            </a:r>
            <a:r>
              <a:rPr sz="1850">
                <a:solidFill>
                  <a:srgbClr val="1A2433"/>
                </a:solidFill>
                <a:latin typeface="Segoe UI"/>
              </a:rPr>
              <a:t>Two divisions, one roof: Property &amp; Casualty (auto, home, business) and Living Benefits (life &amp; retirement).</a:t>
            </a:r>
          </a:p>
          <a:p>
            <a:pPr>
              <a:lnSpc>
                <a:spcPct val="105000"/>
              </a:lnSpc>
              <a:spcAft>
                <a:spcPts val="1500"/>
              </a:spcAft>
            </a:pPr>
            <a:r>
              <a:rPr sz="1850" b="1">
                <a:solidFill>
                  <a:srgbClr val="C9A227"/>
                </a:solidFill>
                <a:latin typeface="Segoe UI"/>
              </a:rPr>
              <a:t>▪  </a:t>
            </a:r>
            <a:r>
              <a:rPr sz="1850">
                <a:solidFill>
                  <a:srgbClr val="1A2433"/>
                </a:solidFill>
                <a:latin typeface="Segoe UI"/>
              </a:rPr>
              <a:t>4.9★ Google rating · multilingual service in English, Lithuanian, Ukrainian, Russian &amp; Polish.</a:t>
            </a:r>
          </a:p>
          <a:p>
            <a:pPr>
              <a:lnSpc>
                <a:spcPct val="105000"/>
              </a:lnSpc>
              <a:spcAft>
                <a:spcPts val="1500"/>
              </a:spcAft>
            </a:pPr>
            <a:r>
              <a:rPr sz="1850" b="1">
                <a:solidFill>
                  <a:srgbClr val="C9A227"/>
                </a:solidFill>
                <a:latin typeface="Segoe UI"/>
              </a:rPr>
              <a:t>▪  </a:t>
            </a:r>
            <a:r>
              <a:rPr sz="1850">
                <a:solidFill>
                  <a:srgbClr val="1A2433"/>
                </a:solidFill>
                <a:latin typeface="Segoe UI"/>
              </a:rPr>
              <a:t>Built by an immigrant family to help families protect what they’ve worked hard to build.</a:t>
            </a:r>
          </a:p>
        </p:txBody>
      </p:sp>
      <p:sp>
        <p:nvSpPr>
          <p:cNvPr id="8" name="Rounded Rectangle 7"/>
          <p:cNvSpPr/>
          <p:nvPr/>
        </p:nvSpPr>
        <p:spPr>
          <a:xfrm>
            <a:off x="8366760" y="2743200"/>
            <a:ext cx="3291840" cy="315468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2971800"/>
            <a:ext cx="2926080" cy="365760"/>
          </a:xfrm>
          <a:prstGeom prst="rect">
            <a:avLst/>
          </a:prstGeom>
          <a:noFill/>
        </p:spPr>
        <p:txBody>
          <a:bodyPr wrap="square" anchor="t">
            <a:spAutoFit/>
          </a:bodyPr>
          <a:lstStyle/>
          <a:p>
            <a:pPr algn="ctr">
              <a:lnSpc>
                <a:spcPct val="104000"/>
              </a:lnSpc>
              <a:spcAft>
                <a:spcPts val="0"/>
              </a:spcAft>
            </a:pPr>
            <a:r>
              <a:rPr sz="1100" b="1">
                <a:solidFill>
                  <a:srgbClr val="C9A227"/>
                </a:solidFill>
                <a:latin typeface="Segoe UI Semibold"/>
              </a:rPr>
              <a:t>WHY FAMILIES CHOOSE US</a:t>
            </a:r>
          </a:p>
        </p:txBody>
      </p:sp>
      <p:sp>
        <p:nvSpPr>
          <p:cNvPr id="10" name="TextBox 9"/>
          <p:cNvSpPr txBox="1"/>
          <p:nvPr/>
        </p:nvSpPr>
        <p:spPr>
          <a:xfrm>
            <a:off x="8549640" y="3429000"/>
            <a:ext cx="2926080" cy="548640"/>
          </a:xfrm>
          <a:prstGeom prst="rect">
            <a:avLst/>
          </a:prstGeom>
          <a:noFill/>
        </p:spPr>
        <p:txBody>
          <a:bodyPr wrap="square" anchor="t">
            <a:spAutoFit/>
          </a:bodyPr>
          <a:lstStyle/>
          <a:p>
            <a:pPr algn="ctr">
              <a:lnSpc>
                <a:spcPct val="104000"/>
              </a:lnSpc>
              <a:spcAft>
                <a:spcPts val="0"/>
              </a:spcAft>
            </a:pPr>
            <a:r>
              <a:rPr sz="4000" b="1">
                <a:solidFill>
                  <a:srgbClr val="FFFFFF"/>
                </a:solidFill>
                <a:latin typeface="Segoe UI Semibold"/>
              </a:rPr>
              <a:t>4.9★</a:t>
            </a:r>
          </a:p>
        </p:txBody>
      </p:sp>
      <p:sp>
        <p:nvSpPr>
          <p:cNvPr id="11" name="TextBox 10"/>
          <p:cNvSpPr txBox="1"/>
          <p:nvPr/>
        </p:nvSpPr>
        <p:spPr>
          <a:xfrm>
            <a:off x="8549640" y="4160520"/>
            <a:ext cx="2926080" cy="274320"/>
          </a:xfrm>
          <a:prstGeom prst="rect">
            <a:avLst/>
          </a:prstGeom>
          <a:noFill/>
        </p:spPr>
        <p:txBody>
          <a:bodyPr wrap="square" anchor="t">
            <a:spAutoFit/>
          </a:bodyPr>
          <a:lstStyle/>
          <a:p>
            <a:pPr algn="ctr">
              <a:lnSpc>
                <a:spcPct val="104000"/>
              </a:lnSpc>
              <a:spcAft>
                <a:spcPts val="0"/>
              </a:spcAft>
            </a:pPr>
            <a:r>
              <a:rPr sz="1100" b="0">
                <a:solidFill>
                  <a:srgbClr val="C9D2DE"/>
                </a:solidFill>
                <a:latin typeface="Segoe UI"/>
              </a:rPr>
              <a:t>Google rating</a:t>
            </a:r>
          </a:p>
        </p:txBody>
      </p:sp>
      <p:sp>
        <p:nvSpPr>
          <p:cNvPr id="12" name="TextBox 11"/>
          <p:cNvSpPr txBox="1"/>
          <p:nvPr/>
        </p:nvSpPr>
        <p:spPr>
          <a:xfrm>
            <a:off x="8549640" y="4617720"/>
            <a:ext cx="2926080" cy="822960"/>
          </a:xfrm>
          <a:prstGeom prst="rect">
            <a:avLst/>
          </a:prstGeom>
          <a:noFill/>
        </p:spPr>
        <p:txBody>
          <a:bodyPr wrap="square" anchor="t">
            <a:spAutoFit/>
          </a:bodyPr>
          <a:lstStyle/>
          <a:p>
            <a:pPr algn="ctr">
              <a:lnSpc>
                <a:spcPct val="125000"/>
              </a:lnSpc>
              <a:spcAft>
                <a:spcPts val="0"/>
              </a:spcAft>
            </a:pPr>
            <a:r>
              <a:rPr sz="1400" b="1">
                <a:solidFill>
                  <a:srgbClr val="FFFFFF"/>
                </a:solidFill>
                <a:latin typeface="Segoe UI"/>
              </a:rPr>
              <a:t>Independent</a:t>
            </a:r>
          </a:p>
          <a:p>
            <a:pPr algn="ctr">
              <a:lnSpc>
                <a:spcPct val="125000"/>
              </a:lnSpc>
              <a:spcAft>
                <a:spcPts val="0"/>
              </a:spcAft>
            </a:pPr>
            <a:r>
              <a:rPr sz="1400" b="1">
                <a:solidFill>
                  <a:srgbClr val="FFFFFF"/>
                </a:solidFill>
                <a:latin typeface="Segoe UI"/>
              </a:rPr>
              <a:t>Multilingual</a:t>
            </a:r>
          </a:p>
          <a:p>
            <a:pPr algn="ctr">
              <a:lnSpc>
                <a:spcPct val="125000"/>
              </a:lnSpc>
              <a:spcAft>
                <a:spcPts val="0"/>
              </a:spcAft>
            </a:pPr>
            <a:r>
              <a:rPr sz="1400" b="1">
                <a:solidFill>
                  <a:srgbClr val="FFFFFF"/>
                </a:solidFill>
                <a:latin typeface="Segoe UI"/>
              </a:rPr>
              <a:t>Family-owned</a:t>
            </a:r>
          </a:p>
        </p:txBody>
      </p:sp>
      <p:sp>
        <p:nvSpPr>
          <p:cNvPr id="13" name="TextBox 12"/>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4" name="TextBox 13"/>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THE TOTAL PROTECTION PRINCIPLE</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Everything that matters to your family — under one roof</a:t>
            </a:r>
          </a:p>
        </p:txBody>
      </p:sp>
      <p:sp>
        <p:nvSpPr>
          <p:cNvPr id="7" name="Rounded Rectangle 6"/>
          <p:cNvSpPr/>
          <p:nvPr/>
        </p:nvSpPr>
        <p:spPr>
          <a:xfrm>
            <a:off x="4636008" y="2697480"/>
            <a:ext cx="2926080" cy="96012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a:solidFill>
                  <a:srgbClr val="FFFFFF"/>
                </a:solidFill>
                <a:latin typeface="Segoe UI"/>
              </a:rPr>
              <a:t>YOUR FAMILY
&amp; YOUR HOME</a:t>
            </a:r>
          </a:p>
        </p:txBody>
      </p:sp>
      <p:cxnSp>
        <p:nvCxnSpPr>
          <p:cNvPr id="8" name="Connector 7"/>
          <p:cNvCxnSpPr/>
          <p:nvPr/>
        </p:nvCxnSpPr>
        <p:spPr>
          <a:xfrm flipH="1">
            <a:off x="1651863" y="3657600"/>
            <a:ext cx="4447185" cy="960120"/>
          </a:xfrm>
          <a:prstGeom prst="line">
            <a:avLst/>
          </a:prstGeom>
          <a:ln w="19050">
            <a:solidFill>
              <a:srgbClr val="D8DFE8"/>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3163" y="4617720"/>
            <a:ext cx="2057400" cy="777240"/>
          </a:xfrm>
          <a:prstGeom prst="roundRect">
            <a:avLst>
              <a:gd name="adj" fmla="val 18000"/>
            </a:avLst>
          </a:prstGeom>
          <a:solidFill>
            <a:srgbClr val="FFFFFF"/>
          </a:solidFill>
          <a:ln w="254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1">
                <a:solidFill>
                  <a:srgbClr val="0B2545"/>
                </a:solidFill>
                <a:latin typeface="Segoe UI"/>
              </a:rPr>
              <a:t>AUTO</a:t>
            </a:r>
          </a:p>
        </p:txBody>
      </p:sp>
      <p:cxnSp>
        <p:nvCxnSpPr>
          <p:cNvPr id="10" name="Connector 9"/>
          <p:cNvCxnSpPr/>
          <p:nvPr/>
        </p:nvCxnSpPr>
        <p:spPr>
          <a:xfrm flipH="1">
            <a:off x="3873855" y="3657600"/>
            <a:ext cx="2225193" cy="960120"/>
          </a:xfrm>
          <a:prstGeom prst="line">
            <a:avLst/>
          </a:prstGeom>
          <a:ln w="19050">
            <a:solidFill>
              <a:srgbClr val="D8DFE8"/>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45155" y="4617720"/>
            <a:ext cx="2057400" cy="777240"/>
          </a:xfrm>
          <a:prstGeom prst="roundRect">
            <a:avLst>
              <a:gd name="adj" fmla="val 18000"/>
            </a:avLst>
          </a:prstGeom>
          <a:solidFill>
            <a:srgbClr val="FFFFFF"/>
          </a:solidFill>
          <a:ln w="254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1">
                <a:solidFill>
                  <a:srgbClr val="0B2545"/>
                </a:solidFill>
                <a:latin typeface="Segoe UI"/>
              </a:rPr>
              <a:t>HOME</a:t>
            </a:r>
          </a:p>
        </p:txBody>
      </p:sp>
      <p:cxnSp>
        <p:nvCxnSpPr>
          <p:cNvPr id="12" name="Connector 11"/>
          <p:cNvCxnSpPr/>
          <p:nvPr/>
        </p:nvCxnSpPr>
        <p:spPr>
          <a:xfrm flipH="1">
            <a:off x="6095847" y="3657600"/>
            <a:ext cx="3201" cy="960120"/>
          </a:xfrm>
          <a:prstGeom prst="line">
            <a:avLst/>
          </a:prstGeom>
          <a:ln w="19050">
            <a:solidFill>
              <a:srgbClr val="D8DFE8"/>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7147" y="4617720"/>
            <a:ext cx="2057400" cy="777240"/>
          </a:xfrm>
          <a:prstGeom prst="roundRect">
            <a:avLst>
              <a:gd name="adj" fmla="val 18000"/>
            </a:avLst>
          </a:prstGeom>
          <a:solidFill>
            <a:srgbClr val="FFFFFF"/>
          </a:solidFill>
          <a:ln w="254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1">
                <a:solidFill>
                  <a:srgbClr val="0B2545"/>
                </a:solidFill>
                <a:latin typeface="Segoe UI"/>
              </a:rPr>
              <a:t>BUSINESS</a:t>
            </a:r>
          </a:p>
        </p:txBody>
      </p:sp>
      <p:cxnSp>
        <p:nvCxnSpPr>
          <p:cNvPr id="14" name="Connector 13"/>
          <p:cNvCxnSpPr/>
          <p:nvPr/>
        </p:nvCxnSpPr>
        <p:spPr>
          <a:xfrm>
            <a:off x="6099048" y="3657600"/>
            <a:ext cx="2218791" cy="960120"/>
          </a:xfrm>
          <a:prstGeom prst="line">
            <a:avLst/>
          </a:prstGeom>
          <a:ln w="19050">
            <a:solidFill>
              <a:srgbClr val="C9A227"/>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89139" y="4617720"/>
            <a:ext cx="2057400" cy="777240"/>
          </a:xfrm>
          <a:prstGeom prst="roundRect">
            <a:avLst>
              <a:gd name="adj" fmla="val 18000"/>
            </a:avLst>
          </a:prstGeom>
          <a:solidFill>
            <a:srgbClr val="FFFFFF"/>
          </a:solid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1">
                <a:solidFill>
                  <a:srgbClr val="0B2545"/>
                </a:solidFill>
                <a:latin typeface="Segoe UI"/>
              </a:rPr>
              <a:t>LIFE</a:t>
            </a:r>
          </a:p>
        </p:txBody>
      </p:sp>
      <p:cxnSp>
        <p:nvCxnSpPr>
          <p:cNvPr id="16" name="Connector 15"/>
          <p:cNvCxnSpPr/>
          <p:nvPr/>
        </p:nvCxnSpPr>
        <p:spPr>
          <a:xfrm>
            <a:off x="6099048" y="3657600"/>
            <a:ext cx="4440783" cy="960120"/>
          </a:xfrm>
          <a:prstGeom prst="line">
            <a:avLst/>
          </a:prstGeom>
          <a:ln w="19050">
            <a:solidFill>
              <a:srgbClr val="C9A227"/>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11131" y="4617720"/>
            <a:ext cx="2057400" cy="777240"/>
          </a:xfrm>
          <a:prstGeom prst="roundRect">
            <a:avLst>
              <a:gd name="adj" fmla="val 18000"/>
            </a:avLst>
          </a:prstGeom>
          <a:solidFill>
            <a:srgbClr val="FFFFFF"/>
          </a:solidFill>
          <a:ln w="254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50" b="1">
                <a:solidFill>
                  <a:srgbClr val="0B2545"/>
                </a:solidFill>
                <a:latin typeface="Segoe UI"/>
              </a:rPr>
              <a:t>RETIREMENT</a:t>
            </a:r>
          </a:p>
        </p:txBody>
      </p:sp>
      <p:sp>
        <p:nvSpPr>
          <p:cNvPr id="18" name="TextBox 17"/>
          <p:cNvSpPr txBox="1"/>
          <p:nvPr/>
        </p:nvSpPr>
        <p:spPr>
          <a:xfrm>
            <a:off x="548640" y="5623560"/>
            <a:ext cx="11064240" cy="548640"/>
          </a:xfrm>
          <a:prstGeom prst="rect">
            <a:avLst/>
          </a:prstGeom>
          <a:noFill/>
        </p:spPr>
        <p:txBody>
          <a:bodyPr wrap="square" anchor="t">
            <a:spAutoFit/>
          </a:bodyPr>
          <a:lstStyle/>
          <a:p>
            <a:pPr algn="ctr">
              <a:lnSpc>
                <a:spcPct val="104000"/>
              </a:lnSpc>
              <a:spcAft>
                <a:spcPts val="0"/>
              </a:spcAft>
            </a:pPr>
            <a:r>
              <a:rPr sz="1500" b="0">
                <a:solidFill>
                  <a:srgbClr val="6B7280"/>
                </a:solidFill>
                <a:latin typeface="Segoe UI"/>
              </a:rPr>
              <a:t>One agency for auto, home, business, life and retirement — no gaps, no juggling five companies.</a:t>
            </a:r>
          </a:p>
        </p:txBody>
      </p:sp>
      <p:sp>
        <p:nvSpPr>
          <p:cNvPr id="19" name="TextBox 18"/>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0" name="TextBox 19"/>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CARRIERS WE REPRESENT — PROPERTY &amp; CASUALTY</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Top-rated companies for auto, home &amp; business</a:t>
            </a:r>
          </a:p>
        </p:txBody>
      </p:sp>
      <p:sp>
        <p:nvSpPr>
          <p:cNvPr id="7" name="Rounded Rectangle 6"/>
          <p:cNvSpPr/>
          <p:nvPr/>
        </p:nvSpPr>
        <p:spPr>
          <a:xfrm>
            <a:off x="548639" y="2697480"/>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velers.png"/>
          <p:cNvPicPr>
            <a:picLocks noChangeAspect="1"/>
          </p:cNvPicPr>
          <p:nvPr/>
        </p:nvPicPr>
        <p:blipFill>
          <a:blip r:embed="rId2"/>
          <a:stretch>
            <a:fillRect/>
          </a:stretch>
        </p:blipFill>
        <p:spPr>
          <a:xfrm>
            <a:off x="1070408" y="2898648"/>
            <a:ext cx="1014412" cy="649224"/>
          </a:xfrm>
          <a:prstGeom prst="rect">
            <a:avLst/>
          </a:prstGeom>
        </p:spPr>
      </p:pic>
      <p:sp>
        <p:nvSpPr>
          <p:cNvPr id="9" name="Rounded Rectangle 8"/>
          <p:cNvSpPr/>
          <p:nvPr/>
        </p:nvSpPr>
        <p:spPr>
          <a:xfrm>
            <a:off x="2807756" y="2697480"/>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rogressive.png"/>
          <p:cNvPicPr>
            <a:picLocks noChangeAspect="1"/>
          </p:cNvPicPr>
          <p:nvPr/>
        </p:nvPicPr>
        <p:blipFill>
          <a:blip r:embed="rId3"/>
          <a:stretch>
            <a:fillRect/>
          </a:stretch>
        </p:blipFill>
        <p:spPr>
          <a:xfrm>
            <a:off x="3008924" y="3122371"/>
            <a:ext cx="1655612" cy="201777"/>
          </a:xfrm>
          <a:prstGeom prst="rect">
            <a:avLst/>
          </a:prstGeom>
        </p:spPr>
      </p:pic>
      <p:sp>
        <p:nvSpPr>
          <p:cNvPr id="11" name="Rounded Rectangle 10"/>
          <p:cNvSpPr/>
          <p:nvPr/>
        </p:nvSpPr>
        <p:spPr>
          <a:xfrm>
            <a:off x="5066873" y="2697480"/>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geico.png"/>
          <p:cNvPicPr>
            <a:picLocks noChangeAspect="1"/>
          </p:cNvPicPr>
          <p:nvPr/>
        </p:nvPicPr>
        <p:blipFill>
          <a:blip r:embed="rId4"/>
          <a:stretch>
            <a:fillRect/>
          </a:stretch>
        </p:blipFill>
        <p:spPr>
          <a:xfrm>
            <a:off x="5268041" y="3077531"/>
            <a:ext cx="1655612" cy="291456"/>
          </a:xfrm>
          <a:prstGeom prst="rect">
            <a:avLst/>
          </a:prstGeom>
        </p:spPr>
      </p:pic>
      <p:sp>
        <p:nvSpPr>
          <p:cNvPr id="13" name="Rounded Rectangle 12"/>
          <p:cNvSpPr/>
          <p:nvPr/>
        </p:nvSpPr>
        <p:spPr>
          <a:xfrm>
            <a:off x="7325989" y="2697480"/>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aa.png"/>
          <p:cNvPicPr>
            <a:picLocks noChangeAspect="1"/>
          </p:cNvPicPr>
          <p:nvPr/>
        </p:nvPicPr>
        <p:blipFill>
          <a:blip r:embed="rId5"/>
          <a:stretch>
            <a:fillRect/>
          </a:stretch>
        </p:blipFill>
        <p:spPr>
          <a:xfrm>
            <a:off x="7842418" y="2898648"/>
            <a:ext cx="1025090" cy="649224"/>
          </a:xfrm>
          <a:prstGeom prst="rect">
            <a:avLst/>
          </a:prstGeom>
        </p:spPr>
      </p:pic>
      <p:sp>
        <p:nvSpPr>
          <p:cNvPr id="15" name="Rounded Rectangle 14"/>
          <p:cNvSpPr/>
          <p:nvPr/>
        </p:nvSpPr>
        <p:spPr>
          <a:xfrm>
            <a:off x="9585106" y="2697480"/>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range.png"/>
          <p:cNvPicPr>
            <a:picLocks noChangeAspect="1"/>
          </p:cNvPicPr>
          <p:nvPr/>
        </p:nvPicPr>
        <p:blipFill>
          <a:blip r:embed="rId6"/>
          <a:stretch>
            <a:fillRect/>
          </a:stretch>
        </p:blipFill>
        <p:spPr>
          <a:xfrm>
            <a:off x="10051576" y="2898648"/>
            <a:ext cx="1125009" cy="649224"/>
          </a:xfrm>
          <a:prstGeom prst="rect">
            <a:avLst/>
          </a:prstGeom>
        </p:spPr>
      </p:pic>
      <p:sp>
        <p:nvSpPr>
          <p:cNvPr id="17" name="Rounded Rectangle 16"/>
          <p:cNvSpPr/>
          <p:nvPr/>
        </p:nvSpPr>
        <p:spPr>
          <a:xfrm>
            <a:off x="548639" y="3950208"/>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afeco.png"/>
          <p:cNvPicPr>
            <a:picLocks noChangeAspect="1"/>
          </p:cNvPicPr>
          <p:nvPr/>
        </p:nvPicPr>
        <p:blipFill>
          <a:blip r:embed="rId7"/>
          <a:stretch>
            <a:fillRect/>
          </a:stretch>
        </p:blipFill>
        <p:spPr>
          <a:xfrm>
            <a:off x="749807" y="4270761"/>
            <a:ext cx="1655612" cy="410453"/>
          </a:xfrm>
          <a:prstGeom prst="rect">
            <a:avLst/>
          </a:prstGeom>
        </p:spPr>
      </p:pic>
      <p:sp>
        <p:nvSpPr>
          <p:cNvPr id="19" name="Rounded Rectangle 18"/>
          <p:cNvSpPr/>
          <p:nvPr/>
        </p:nvSpPr>
        <p:spPr>
          <a:xfrm>
            <a:off x="2807756" y="3950208"/>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ateauto.png"/>
          <p:cNvPicPr>
            <a:picLocks noChangeAspect="1"/>
          </p:cNvPicPr>
          <p:nvPr/>
        </p:nvPicPr>
        <p:blipFill>
          <a:blip r:embed="rId8"/>
          <a:stretch>
            <a:fillRect/>
          </a:stretch>
        </p:blipFill>
        <p:spPr>
          <a:xfrm>
            <a:off x="3379128" y="4151376"/>
            <a:ext cx="915205" cy="649224"/>
          </a:xfrm>
          <a:prstGeom prst="rect">
            <a:avLst/>
          </a:prstGeom>
        </p:spPr>
      </p:pic>
      <p:sp>
        <p:nvSpPr>
          <p:cNvPr id="21" name="Rounded Rectangle 20"/>
          <p:cNvSpPr/>
          <p:nvPr/>
        </p:nvSpPr>
        <p:spPr>
          <a:xfrm>
            <a:off x="5066873" y="3950208"/>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foremost.png"/>
          <p:cNvPicPr>
            <a:picLocks noChangeAspect="1"/>
          </p:cNvPicPr>
          <p:nvPr/>
        </p:nvPicPr>
        <p:blipFill>
          <a:blip r:embed="rId9"/>
          <a:stretch>
            <a:fillRect/>
          </a:stretch>
        </p:blipFill>
        <p:spPr>
          <a:xfrm>
            <a:off x="5316778" y="4151376"/>
            <a:ext cx="1558137" cy="649224"/>
          </a:xfrm>
          <a:prstGeom prst="rect">
            <a:avLst/>
          </a:prstGeom>
        </p:spPr>
      </p:pic>
      <p:sp>
        <p:nvSpPr>
          <p:cNvPr id="23" name="Rounded Rectangle 22"/>
          <p:cNvSpPr/>
          <p:nvPr/>
        </p:nvSpPr>
        <p:spPr>
          <a:xfrm>
            <a:off x="7325989" y="3950208"/>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mericanmodern.png"/>
          <p:cNvPicPr>
            <a:picLocks noChangeAspect="1"/>
          </p:cNvPicPr>
          <p:nvPr/>
        </p:nvPicPr>
        <p:blipFill>
          <a:blip r:embed="rId10"/>
          <a:stretch>
            <a:fillRect/>
          </a:stretch>
        </p:blipFill>
        <p:spPr>
          <a:xfrm>
            <a:off x="7527157" y="4244029"/>
            <a:ext cx="1655612" cy="463916"/>
          </a:xfrm>
          <a:prstGeom prst="rect">
            <a:avLst/>
          </a:prstGeom>
        </p:spPr>
      </p:pic>
      <p:sp>
        <p:nvSpPr>
          <p:cNvPr id="25" name="Rounded Rectangle 24"/>
          <p:cNvSpPr/>
          <p:nvPr/>
        </p:nvSpPr>
        <p:spPr>
          <a:xfrm>
            <a:off x="9585106" y="3950208"/>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nationalgeneral.png"/>
          <p:cNvPicPr>
            <a:picLocks noChangeAspect="1"/>
          </p:cNvPicPr>
          <p:nvPr/>
        </p:nvPicPr>
        <p:blipFill>
          <a:blip r:embed="rId11"/>
          <a:stretch>
            <a:fillRect/>
          </a:stretch>
        </p:blipFill>
        <p:spPr>
          <a:xfrm>
            <a:off x="9786274" y="4377873"/>
            <a:ext cx="1655612" cy="196228"/>
          </a:xfrm>
          <a:prstGeom prst="rect">
            <a:avLst/>
          </a:prstGeom>
        </p:spPr>
      </p:pic>
      <p:sp>
        <p:nvSpPr>
          <p:cNvPr id="27" name="Rounded Rectangle 26"/>
          <p:cNvSpPr/>
          <p:nvPr/>
        </p:nvSpPr>
        <p:spPr>
          <a:xfrm>
            <a:off x="2807756" y="5202936"/>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northland.png"/>
          <p:cNvPicPr>
            <a:picLocks noChangeAspect="1"/>
          </p:cNvPicPr>
          <p:nvPr/>
        </p:nvPicPr>
        <p:blipFill>
          <a:blip r:embed="rId12"/>
          <a:stretch>
            <a:fillRect/>
          </a:stretch>
        </p:blipFill>
        <p:spPr>
          <a:xfrm>
            <a:off x="3057662" y="5404103"/>
            <a:ext cx="1558137" cy="649224"/>
          </a:xfrm>
          <a:prstGeom prst="rect">
            <a:avLst/>
          </a:prstGeom>
        </p:spPr>
      </p:pic>
      <p:sp>
        <p:nvSpPr>
          <p:cNvPr id="29" name="Rounded Rectangle 28"/>
          <p:cNvSpPr/>
          <p:nvPr/>
        </p:nvSpPr>
        <p:spPr>
          <a:xfrm>
            <a:off x="5066873" y="5202936"/>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anal.png"/>
          <p:cNvPicPr>
            <a:picLocks noChangeAspect="1"/>
          </p:cNvPicPr>
          <p:nvPr/>
        </p:nvPicPr>
        <p:blipFill>
          <a:blip r:embed="rId13"/>
          <a:stretch>
            <a:fillRect/>
          </a:stretch>
        </p:blipFill>
        <p:spPr>
          <a:xfrm>
            <a:off x="5282362" y="5404103"/>
            <a:ext cx="1626970" cy="649224"/>
          </a:xfrm>
          <a:prstGeom prst="rect">
            <a:avLst/>
          </a:prstGeom>
        </p:spPr>
      </p:pic>
      <p:sp>
        <p:nvSpPr>
          <p:cNvPr id="31" name="Rounded Rectangle 30"/>
          <p:cNvSpPr/>
          <p:nvPr/>
        </p:nvSpPr>
        <p:spPr>
          <a:xfrm>
            <a:off x="7325989" y="5202936"/>
            <a:ext cx="2057948" cy="10515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guard.png"/>
          <p:cNvPicPr>
            <a:picLocks noChangeAspect="1"/>
          </p:cNvPicPr>
          <p:nvPr/>
        </p:nvPicPr>
        <p:blipFill>
          <a:blip r:embed="rId14"/>
          <a:stretch>
            <a:fillRect/>
          </a:stretch>
        </p:blipFill>
        <p:spPr>
          <a:xfrm>
            <a:off x="7527157" y="5664905"/>
            <a:ext cx="1655612" cy="127620"/>
          </a:xfrm>
          <a:prstGeom prst="rect">
            <a:avLst/>
          </a:prstGeom>
        </p:spPr>
      </p:pic>
      <p:sp>
        <p:nvSpPr>
          <p:cNvPr id="33" name="TextBox 32"/>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34" name="TextBox 33"/>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CARRIERS WE REPRESENT — LIFE &amp; LIVING BENEFITS</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Through Alliance Group, with National Life Group as our foundation</a:t>
            </a:r>
          </a:p>
        </p:txBody>
      </p:sp>
      <p:sp>
        <p:nvSpPr>
          <p:cNvPr id="7" name="Rounded Rectangle 6"/>
          <p:cNvSpPr/>
          <p:nvPr/>
        </p:nvSpPr>
        <p:spPr>
          <a:xfrm>
            <a:off x="548639" y="2971800"/>
            <a:ext cx="2057948" cy="12801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nationallife.png"/>
          <p:cNvPicPr>
            <a:picLocks noChangeAspect="1"/>
          </p:cNvPicPr>
          <p:nvPr/>
        </p:nvPicPr>
        <p:blipFill>
          <a:blip r:embed="rId2"/>
          <a:stretch>
            <a:fillRect/>
          </a:stretch>
        </p:blipFill>
        <p:spPr>
          <a:xfrm>
            <a:off x="749807" y="3247645"/>
            <a:ext cx="1655612" cy="728469"/>
          </a:xfrm>
          <a:prstGeom prst="rect">
            <a:avLst/>
          </a:prstGeom>
        </p:spPr>
      </p:pic>
      <p:sp>
        <p:nvSpPr>
          <p:cNvPr id="9" name="Rounded Rectangle 8"/>
          <p:cNvSpPr/>
          <p:nvPr/>
        </p:nvSpPr>
        <p:spPr>
          <a:xfrm>
            <a:off x="2807756" y="2971800"/>
            <a:ext cx="2057948" cy="12801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oresters.png"/>
          <p:cNvPicPr>
            <a:picLocks noChangeAspect="1"/>
          </p:cNvPicPr>
          <p:nvPr/>
        </p:nvPicPr>
        <p:blipFill>
          <a:blip r:embed="rId3"/>
          <a:stretch>
            <a:fillRect/>
          </a:stretch>
        </p:blipFill>
        <p:spPr>
          <a:xfrm>
            <a:off x="3008924" y="3292829"/>
            <a:ext cx="1655612" cy="638100"/>
          </a:xfrm>
          <a:prstGeom prst="rect">
            <a:avLst/>
          </a:prstGeom>
        </p:spPr>
      </p:pic>
      <p:sp>
        <p:nvSpPr>
          <p:cNvPr id="11" name="Rounded Rectangle 10"/>
          <p:cNvSpPr/>
          <p:nvPr/>
        </p:nvSpPr>
        <p:spPr>
          <a:xfrm>
            <a:off x="5066873" y="2971800"/>
            <a:ext cx="2057948" cy="12801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rebridge.png"/>
          <p:cNvPicPr>
            <a:picLocks noChangeAspect="1"/>
          </p:cNvPicPr>
          <p:nvPr/>
        </p:nvPicPr>
        <p:blipFill>
          <a:blip r:embed="rId4"/>
          <a:stretch>
            <a:fillRect/>
          </a:stretch>
        </p:blipFill>
        <p:spPr>
          <a:xfrm>
            <a:off x="5268041" y="3341118"/>
            <a:ext cx="1655612" cy="541523"/>
          </a:xfrm>
          <a:prstGeom prst="rect">
            <a:avLst/>
          </a:prstGeom>
        </p:spPr>
      </p:pic>
      <p:sp>
        <p:nvSpPr>
          <p:cNvPr id="13" name="Rounded Rectangle 12"/>
          <p:cNvSpPr/>
          <p:nvPr/>
        </p:nvSpPr>
        <p:spPr>
          <a:xfrm>
            <a:off x="7325989" y="2971800"/>
            <a:ext cx="2057948" cy="12801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meritas.png"/>
          <p:cNvPicPr>
            <a:picLocks noChangeAspect="1"/>
          </p:cNvPicPr>
          <p:nvPr/>
        </p:nvPicPr>
        <p:blipFill>
          <a:blip r:embed="rId5"/>
          <a:stretch>
            <a:fillRect/>
          </a:stretch>
        </p:blipFill>
        <p:spPr>
          <a:xfrm>
            <a:off x="7527157" y="3442939"/>
            <a:ext cx="1655612" cy="337880"/>
          </a:xfrm>
          <a:prstGeom prst="rect">
            <a:avLst/>
          </a:prstGeom>
        </p:spPr>
      </p:pic>
      <p:sp>
        <p:nvSpPr>
          <p:cNvPr id="15" name="Rounded Rectangle 14"/>
          <p:cNvSpPr/>
          <p:nvPr/>
        </p:nvSpPr>
        <p:spPr>
          <a:xfrm>
            <a:off x="9585106" y="2971800"/>
            <a:ext cx="2057948" cy="128016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mericannational.png"/>
          <p:cNvPicPr>
            <a:picLocks noChangeAspect="1"/>
          </p:cNvPicPr>
          <p:nvPr/>
        </p:nvPicPr>
        <p:blipFill>
          <a:blip r:embed="rId6"/>
          <a:stretch>
            <a:fillRect/>
          </a:stretch>
        </p:blipFill>
        <p:spPr>
          <a:xfrm>
            <a:off x="9786274" y="3468738"/>
            <a:ext cx="1655612" cy="286283"/>
          </a:xfrm>
          <a:prstGeom prst="rect">
            <a:avLst/>
          </a:prstGeom>
        </p:spPr>
      </p:pic>
      <p:sp>
        <p:nvSpPr>
          <p:cNvPr id="17" name="TextBox 16"/>
          <p:cNvSpPr txBox="1"/>
          <p:nvPr/>
        </p:nvSpPr>
        <p:spPr>
          <a:xfrm>
            <a:off x="548640" y="4846320"/>
            <a:ext cx="11064240" cy="914400"/>
          </a:xfrm>
          <a:prstGeom prst="rect">
            <a:avLst/>
          </a:prstGeom>
          <a:noFill/>
        </p:spPr>
        <p:txBody>
          <a:bodyPr wrap="square" anchor="t">
            <a:spAutoFit/>
          </a:bodyPr>
          <a:lstStyle/>
          <a:p>
            <a:pPr algn="ctr">
              <a:lnSpc>
                <a:spcPct val="120000"/>
              </a:lnSpc>
              <a:spcAft>
                <a:spcPts val="0"/>
              </a:spcAft>
            </a:pPr>
            <a:r>
              <a:rPr sz="1500" b="0">
                <a:solidFill>
                  <a:srgbClr val="1A2433"/>
                </a:solidFill>
                <a:latin typeface="Segoe UI"/>
              </a:rPr>
              <a:t>Our primary carrier, National Life Group, has 175+ years of history, A+ (Superior) A.M. Best rating, and is the #1 company in indexed universal life sales.</a:t>
            </a:r>
          </a:p>
        </p:txBody>
      </p:sp>
      <p:sp>
        <p:nvSpPr>
          <p:cNvPr id="18" name="TextBox 17"/>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9" name="TextBox 18"/>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CARRIERS WE REPRESENT — HEALTH</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Coverage for individuals, families &amp; businesses</a:t>
            </a:r>
          </a:p>
        </p:txBody>
      </p:sp>
      <p:sp>
        <p:nvSpPr>
          <p:cNvPr id="7" name="Rounded Rectangle 6"/>
          <p:cNvSpPr/>
          <p:nvPr/>
        </p:nvSpPr>
        <p:spPr>
          <a:xfrm>
            <a:off x="548639" y="3108960"/>
            <a:ext cx="2567863" cy="141732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cbs.png"/>
          <p:cNvPicPr>
            <a:picLocks noChangeAspect="1"/>
          </p:cNvPicPr>
          <p:nvPr/>
        </p:nvPicPr>
        <p:blipFill>
          <a:blip r:embed="rId2"/>
          <a:stretch>
            <a:fillRect/>
          </a:stretch>
        </p:blipFill>
        <p:spPr>
          <a:xfrm>
            <a:off x="749807" y="3590916"/>
            <a:ext cx="2165527" cy="453407"/>
          </a:xfrm>
          <a:prstGeom prst="rect">
            <a:avLst/>
          </a:prstGeom>
        </p:spPr>
      </p:pic>
      <p:sp>
        <p:nvSpPr>
          <p:cNvPr id="9" name="Rounded Rectangle 8"/>
          <p:cNvSpPr/>
          <p:nvPr/>
        </p:nvSpPr>
        <p:spPr>
          <a:xfrm>
            <a:off x="3390823" y="3108960"/>
            <a:ext cx="2567863" cy="141732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umana.png"/>
          <p:cNvPicPr>
            <a:picLocks noChangeAspect="1"/>
          </p:cNvPicPr>
          <p:nvPr/>
        </p:nvPicPr>
        <p:blipFill>
          <a:blip r:embed="rId3"/>
          <a:stretch>
            <a:fillRect/>
          </a:stretch>
        </p:blipFill>
        <p:spPr>
          <a:xfrm>
            <a:off x="3591991" y="3586404"/>
            <a:ext cx="2165527" cy="462430"/>
          </a:xfrm>
          <a:prstGeom prst="rect">
            <a:avLst/>
          </a:prstGeom>
        </p:spPr>
      </p:pic>
      <p:sp>
        <p:nvSpPr>
          <p:cNvPr id="11" name="Rounded Rectangle 10"/>
          <p:cNvSpPr/>
          <p:nvPr/>
        </p:nvSpPr>
        <p:spPr>
          <a:xfrm>
            <a:off x="6233007" y="3108960"/>
            <a:ext cx="2567863" cy="141732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hc.png"/>
          <p:cNvPicPr>
            <a:picLocks noChangeAspect="1"/>
          </p:cNvPicPr>
          <p:nvPr/>
        </p:nvPicPr>
        <p:blipFill>
          <a:blip r:embed="rId4"/>
          <a:stretch>
            <a:fillRect/>
          </a:stretch>
        </p:blipFill>
        <p:spPr>
          <a:xfrm>
            <a:off x="6434175" y="3477000"/>
            <a:ext cx="2165527" cy="681238"/>
          </a:xfrm>
          <a:prstGeom prst="rect">
            <a:avLst/>
          </a:prstGeom>
        </p:spPr>
      </p:pic>
      <p:sp>
        <p:nvSpPr>
          <p:cNvPr id="13" name="Rounded Rectangle 12"/>
          <p:cNvSpPr/>
          <p:nvPr/>
        </p:nvSpPr>
        <p:spPr>
          <a:xfrm>
            <a:off x="9075191" y="3108960"/>
            <a:ext cx="2567863" cy="1417320"/>
          </a:xfrm>
          <a:prstGeom prst="roundRect">
            <a:avLst>
              <a:gd name="adj" fmla="val 7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etna.png"/>
          <p:cNvPicPr>
            <a:picLocks noChangeAspect="1"/>
          </p:cNvPicPr>
          <p:nvPr/>
        </p:nvPicPr>
        <p:blipFill>
          <a:blip r:embed="rId5"/>
          <a:stretch>
            <a:fillRect/>
          </a:stretch>
        </p:blipFill>
        <p:spPr>
          <a:xfrm>
            <a:off x="9276359" y="3610090"/>
            <a:ext cx="2165527" cy="415059"/>
          </a:xfrm>
          <a:prstGeom prst="rect">
            <a:avLst/>
          </a:prstGeom>
        </p:spPr>
      </p:pic>
      <p:sp>
        <p:nvSpPr>
          <p:cNvPr id="15" name="TextBox 14"/>
          <p:cNvSpPr txBox="1"/>
          <p:nvPr/>
        </p:nvSpPr>
        <p:spPr>
          <a:xfrm>
            <a:off x="548640" y="5074920"/>
            <a:ext cx="11064240" cy="548640"/>
          </a:xfrm>
          <a:prstGeom prst="rect">
            <a:avLst/>
          </a:prstGeom>
          <a:noFill/>
        </p:spPr>
        <p:txBody>
          <a:bodyPr wrap="square" anchor="t">
            <a:spAutoFit/>
          </a:bodyPr>
          <a:lstStyle/>
          <a:p>
            <a:pPr algn="ctr">
              <a:lnSpc>
                <a:spcPct val="104000"/>
              </a:lnSpc>
              <a:spcAft>
                <a:spcPts val="0"/>
              </a:spcAft>
            </a:pPr>
            <a:r>
              <a:rPr sz="1500" b="0">
                <a:solidFill>
                  <a:srgbClr val="6B7280"/>
                </a:solidFill>
                <a:latin typeface="Segoe UI"/>
              </a:rPr>
              <a:t>From a growing family to a small-business group plan, we help you find health coverage that fits.</a:t>
            </a:r>
          </a:p>
        </p:txBody>
      </p:sp>
      <p:sp>
        <p:nvSpPr>
          <p:cNvPr id="16" name="TextBox 15"/>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7" name="TextBox 16"/>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WHERE WE SERVE</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Licensed in 26 states — coast to coast</a:t>
            </a:r>
          </a:p>
        </p:txBody>
      </p:sp>
      <p:pic>
        <p:nvPicPr>
          <p:cNvPr id="7" name="Picture 6" descr="us-states-hl.png"/>
          <p:cNvPicPr>
            <a:picLocks noChangeAspect="1"/>
          </p:cNvPicPr>
          <p:nvPr/>
        </p:nvPicPr>
        <p:blipFill>
          <a:blip r:embed="rId2"/>
          <a:stretch>
            <a:fillRect/>
          </a:stretch>
        </p:blipFill>
        <p:spPr>
          <a:xfrm>
            <a:off x="411480" y="2468880"/>
            <a:ext cx="6126480" cy="3788794"/>
          </a:xfrm>
          <a:prstGeom prst="rect">
            <a:avLst/>
          </a:prstGeom>
        </p:spPr>
      </p:pic>
      <p:sp>
        <p:nvSpPr>
          <p:cNvPr id="8" name="Rounded Rectangle 7"/>
          <p:cNvSpPr/>
          <p:nvPr/>
        </p:nvSpPr>
        <p:spPr>
          <a:xfrm>
            <a:off x="6720840" y="2468880"/>
            <a:ext cx="5074920" cy="3749039"/>
          </a:xfrm>
          <a:prstGeom prst="roundRect">
            <a:avLst>
              <a:gd name="adj" fmla="val 50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13448" y="2606040"/>
            <a:ext cx="4526280" cy="868680"/>
          </a:xfrm>
          <a:prstGeom prst="rect">
            <a:avLst/>
          </a:prstGeom>
          <a:noFill/>
        </p:spPr>
        <p:txBody>
          <a:bodyPr wrap="square" anchor="t">
            <a:spAutoFit/>
          </a:bodyPr>
          <a:lstStyle/>
          <a:p>
            <a:pPr algn="l">
              <a:lnSpc>
                <a:spcPct val="104000"/>
              </a:lnSpc>
              <a:spcAft>
                <a:spcPts val="0"/>
              </a:spcAft>
            </a:pPr>
            <a:r>
              <a:rPr sz="5400" b="1">
                <a:solidFill>
                  <a:srgbClr val="C9A227"/>
                </a:solidFill>
                <a:latin typeface="Segoe UI Semibold"/>
              </a:rPr>
              <a:t>26</a:t>
            </a:r>
          </a:p>
        </p:txBody>
      </p:sp>
      <p:sp>
        <p:nvSpPr>
          <p:cNvPr id="10" name="TextBox 9"/>
          <p:cNvSpPr txBox="1"/>
          <p:nvPr/>
        </p:nvSpPr>
        <p:spPr>
          <a:xfrm>
            <a:off x="7031736" y="3584448"/>
            <a:ext cx="4526280" cy="365760"/>
          </a:xfrm>
          <a:prstGeom prst="rect">
            <a:avLst/>
          </a:prstGeom>
          <a:noFill/>
        </p:spPr>
        <p:txBody>
          <a:bodyPr wrap="square" anchor="t">
            <a:spAutoFit/>
          </a:bodyPr>
          <a:lstStyle/>
          <a:p>
            <a:pPr algn="l">
              <a:lnSpc>
                <a:spcPct val="104000"/>
              </a:lnSpc>
              <a:spcAft>
                <a:spcPts val="0"/>
              </a:spcAft>
            </a:pPr>
            <a:r>
              <a:rPr sz="1400" b="1">
                <a:solidFill>
                  <a:srgbClr val="0B2545"/>
                </a:solidFill>
                <a:latin typeface="Segoe UI Semibold"/>
              </a:rPr>
              <a:t>STATES LICENSED</a:t>
            </a:r>
          </a:p>
        </p:txBody>
      </p:sp>
      <p:sp>
        <p:nvSpPr>
          <p:cNvPr id="11" name="Rounded Rectangle 10"/>
          <p:cNvSpPr/>
          <p:nvPr/>
        </p:nvSpPr>
        <p:spPr>
          <a:xfrm>
            <a:off x="7031736" y="4041648"/>
            <a:ext cx="4453128" cy="502920"/>
          </a:xfrm>
          <a:prstGeom prst="roundRect">
            <a:avLst>
              <a:gd name="adj" fmla="val 1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FFFFFF"/>
                </a:solidFill>
                <a:latin typeface="Segoe UI"/>
              </a:rPr>
              <a:t>★  Illinois — home base</a:t>
            </a:r>
          </a:p>
        </p:txBody>
      </p:sp>
      <p:sp>
        <p:nvSpPr>
          <p:cNvPr id="12" name="TextBox 11"/>
          <p:cNvSpPr txBox="1"/>
          <p:nvPr/>
        </p:nvSpPr>
        <p:spPr>
          <a:xfrm>
            <a:off x="7031736" y="4709160"/>
            <a:ext cx="4453128" cy="1371600"/>
          </a:xfrm>
          <a:prstGeom prst="rect">
            <a:avLst/>
          </a:prstGeom>
          <a:noFill/>
        </p:spPr>
        <p:txBody>
          <a:bodyPr wrap="square" anchor="t">
            <a:spAutoFit/>
          </a:bodyPr>
          <a:lstStyle/>
          <a:p>
            <a:pPr algn="l">
              <a:lnSpc>
                <a:spcPct val="125000"/>
              </a:lnSpc>
              <a:spcAft>
                <a:spcPts val="0"/>
              </a:spcAft>
            </a:pPr>
            <a:r>
              <a:rPr sz="1050" b="0">
                <a:solidFill>
                  <a:srgbClr val="1A2433"/>
                </a:solidFill>
                <a:latin typeface="Segoe UI"/>
              </a:rPr>
              <a:t>Arizona · Arkansas · California · Colorado · Connecticut · Florida · Georgia · Illinois · Indiana · Kentucky · Louisiana · Massachusetts · Michigan · Minnesota · Nevada · New Jersey · North Carolina · Ohio · Oregon · Pennsylvania · South Carolina · Texas · Utah · Virginia · Washington · Wisconsin</a:t>
            </a:r>
          </a:p>
        </p:txBody>
      </p:sp>
      <p:sp>
        <p:nvSpPr>
          <p:cNvPr id="13" name="TextBox 12"/>
          <p:cNvSpPr txBox="1"/>
          <p:nvPr/>
        </p:nvSpPr>
        <p:spPr>
          <a:xfrm>
            <a:off x="548640" y="6291072"/>
            <a:ext cx="11064240" cy="274320"/>
          </a:xfrm>
          <a:prstGeom prst="rect">
            <a:avLst/>
          </a:prstGeom>
          <a:noFill/>
        </p:spPr>
        <p:txBody>
          <a:bodyPr wrap="square" anchor="t">
            <a:spAutoFit/>
          </a:bodyPr>
          <a:lstStyle/>
          <a:p>
            <a:pPr algn="ctr">
              <a:lnSpc>
                <a:spcPct val="104000"/>
              </a:lnSpc>
              <a:spcAft>
                <a:spcPts val="0"/>
              </a:spcAft>
            </a:pPr>
            <a:r>
              <a:rPr sz="950" b="0">
                <a:solidFill>
                  <a:srgbClr val="6B7280"/>
                </a:solidFill>
                <a:latin typeface="Segoe UI"/>
              </a:rPr>
              <a:t>Combined firm &amp; producer licensing (active). Not all products available in all states.</a:t>
            </a:r>
          </a:p>
        </p:txBody>
      </p:sp>
      <p:sp>
        <p:nvSpPr>
          <p:cNvPr id="14" name="TextBox 13"/>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5" name="TextBox 14"/>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WHAT MAKES US DIFFERENT</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Life insurance you don’t have to die to use</a:t>
            </a:r>
          </a:p>
        </p:txBody>
      </p:sp>
      <p:sp>
        <p:nvSpPr>
          <p:cNvPr id="7" name="Rounded Rectangle 6"/>
          <p:cNvSpPr/>
          <p:nvPr/>
        </p:nvSpPr>
        <p:spPr>
          <a:xfrm>
            <a:off x="548640" y="2788920"/>
            <a:ext cx="5349240" cy="137160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6B7280"/>
                </a:solidFill>
                <a:latin typeface="Segoe UI"/>
              </a:rPr>
              <a:t>THE OLD WAY</a:t>
            </a:r>
          </a:p>
          <a:p>
            <a:pPr algn="ctr">
              <a:lnSpc>
                <a:spcPct val="100000"/>
              </a:lnSpc>
              <a:spcBef>
                <a:spcPts val="400"/>
              </a:spcBef>
            </a:pPr>
            <a:r>
              <a:rPr sz="1300">
                <a:solidFill>
                  <a:srgbClr val="1A2433"/>
                </a:solidFill>
                <a:latin typeface="Segoe UI"/>
              </a:rPr>
              <a:t>Traditional life insurance pays only when you die — like an old rotary phone.</a:t>
            </a:r>
          </a:p>
        </p:txBody>
      </p:sp>
      <p:sp>
        <p:nvSpPr>
          <p:cNvPr id="8" name="Rounded Rectangle 7"/>
          <p:cNvSpPr/>
          <p:nvPr/>
        </p:nvSpPr>
        <p:spPr>
          <a:xfrm>
            <a:off x="6309360" y="2788920"/>
            <a:ext cx="5349240" cy="1371600"/>
          </a:xfrm>
          <a:prstGeom prst="roundRect">
            <a:avLst>
              <a:gd name="adj" fmla="val 6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C9A227"/>
                </a:solidFill>
                <a:latin typeface="Segoe UI"/>
              </a:rPr>
              <a:t>THE MODERN WAY</a:t>
            </a:r>
          </a:p>
          <a:p>
            <a:pPr algn="ctr">
              <a:lnSpc>
                <a:spcPct val="100000"/>
              </a:lnSpc>
              <a:spcBef>
                <a:spcPts val="400"/>
              </a:spcBef>
            </a:pPr>
            <a:r>
              <a:rPr sz="1300">
                <a:solidFill>
                  <a:srgbClr val="FFFFFF"/>
                </a:solidFill>
                <a:latin typeface="Segoe UI"/>
              </a:rPr>
              <a:t>Living Benefits may let you use part of your coverage while you’re alive — the smartphone version.</a:t>
            </a:r>
          </a:p>
        </p:txBody>
      </p:sp>
      <p:sp>
        <p:nvSpPr>
          <p:cNvPr id="9" name="TextBox 8"/>
          <p:cNvSpPr txBox="1"/>
          <p:nvPr/>
        </p:nvSpPr>
        <p:spPr>
          <a:xfrm>
            <a:off x="548640" y="4526280"/>
            <a:ext cx="10972800" cy="365760"/>
          </a:xfrm>
          <a:prstGeom prst="rect">
            <a:avLst/>
          </a:prstGeom>
          <a:noFill/>
        </p:spPr>
        <p:txBody>
          <a:bodyPr wrap="square" anchor="t">
            <a:spAutoFit/>
          </a:bodyPr>
          <a:lstStyle/>
          <a:p>
            <a:pPr algn="l">
              <a:lnSpc>
                <a:spcPct val="104000"/>
              </a:lnSpc>
              <a:spcAft>
                <a:spcPts val="0"/>
              </a:spcAft>
            </a:pPr>
            <a:r>
              <a:rPr sz="1600" b="1">
                <a:solidFill>
                  <a:srgbClr val="0B2545"/>
                </a:solidFill>
                <a:latin typeface="Segoe UI Semibold"/>
              </a:rPr>
              <a:t>The same dollars can protect you three ways:</a:t>
            </a:r>
          </a:p>
        </p:txBody>
      </p:sp>
      <p:sp>
        <p:nvSpPr>
          <p:cNvPr id="10" name="Rounded Rectangle 9"/>
          <p:cNvSpPr/>
          <p:nvPr/>
        </p:nvSpPr>
        <p:spPr>
          <a:xfrm>
            <a:off x="548640" y="4983480"/>
            <a:ext cx="3611880" cy="1051560"/>
          </a:xfrm>
          <a:prstGeom prst="roundRect">
            <a:avLst>
              <a:gd name="adj" fmla="val 8000"/>
            </a:avLst>
          </a:prstGeom>
          <a:solidFill>
            <a:srgbClr val="F4F6F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0B2545"/>
                </a:solidFill>
                <a:latin typeface="Segoe UI"/>
              </a:rPr>
              <a:t>DIE TOO SOON</a:t>
            </a:r>
          </a:p>
          <a:p>
            <a:pPr algn="ctr">
              <a:lnSpc>
                <a:spcPct val="100000"/>
              </a:lnSpc>
              <a:spcBef>
                <a:spcPts val="400"/>
              </a:spcBef>
            </a:pPr>
            <a:r>
              <a:rPr sz="1150">
                <a:solidFill>
                  <a:srgbClr val="6B7280"/>
                </a:solidFill>
                <a:latin typeface="Segoe UI"/>
              </a:rPr>
              <a:t>Death benefit for your family</a:t>
            </a:r>
          </a:p>
        </p:txBody>
      </p:sp>
      <p:sp>
        <p:nvSpPr>
          <p:cNvPr id="11" name="Rounded Rectangle 10"/>
          <p:cNvSpPr/>
          <p:nvPr/>
        </p:nvSpPr>
        <p:spPr>
          <a:xfrm>
            <a:off x="4325112" y="4983480"/>
            <a:ext cx="3611880" cy="1051560"/>
          </a:xfrm>
          <a:prstGeom prst="roundRect">
            <a:avLst>
              <a:gd name="adj" fmla="val 8000"/>
            </a:avLst>
          </a:prstGeom>
          <a:solidFill>
            <a:srgbClr val="F4F6F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0B2545"/>
                </a:solidFill>
                <a:latin typeface="Segoe UI"/>
              </a:rPr>
              <a:t>BECOME ILL</a:t>
            </a:r>
          </a:p>
          <a:p>
            <a:pPr algn="ctr">
              <a:lnSpc>
                <a:spcPct val="100000"/>
              </a:lnSpc>
              <a:spcBef>
                <a:spcPts val="400"/>
              </a:spcBef>
            </a:pPr>
            <a:r>
              <a:rPr sz="1150">
                <a:solidFill>
                  <a:srgbClr val="6B7280"/>
                </a:solidFill>
                <a:latin typeface="Segoe UI"/>
              </a:rPr>
              <a:t>Living Benefits while you’re alive</a:t>
            </a:r>
          </a:p>
        </p:txBody>
      </p:sp>
      <p:sp>
        <p:nvSpPr>
          <p:cNvPr id="12" name="Rounded Rectangle 11"/>
          <p:cNvSpPr/>
          <p:nvPr/>
        </p:nvSpPr>
        <p:spPr>
          <a:xfrm>
            <a:off x="8101583" y="4983480"/>
            <a:ext cx="3611880" cy="1051560"/>
          </a:xfrm>
          <a:prstGeom prst="roundRect">
            <a:avLst>
              <a:gd name="adj" fmla="val 8000"/>
            </a:avLst>
          </a:prstGeom>
          <a:solidFill>
            <a:srgbClr val="F4F6FA"/>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a:solidFill>
                  <a:srgbClr val="0B2545"/>
                </a:solidFill>
                <a:latin typeface="Segoe UI"/>
              </a:rPr>
              <a:t>LIVE TOO LONG</a:t>
            </a:r>
          </a:p>
          <a:p>
            <a:pPr algn="ctr">
              <a:lnSpc>
                <a:spcPct val="100000"/>
              </a:lnSpc>
              <a:spcBef>
                <a:spcPts val="400"/>
              </a:spcBef>
            </a:pPr>
            <a:r>
              <a:rPr sz="1150">
                <a:solidFill>
                  <a:srgbClr val="6B7280"/>
                </a:solidFill>
                <a:latin typeface="Segoe UI"/>
              </a:rPr>
              <a:t>Cash value toward retirement</a:t>
            </a:r>
          </a:p>
        </p:txBody>
      </p:sp>
      <p:sp>
        <p:nvSpPr>
          <p:cNvPr id="13" name="TextBox 12"/>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4" name="TextBox 13"/>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THE THREE NEEDS WE SOLVE</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Every family faces three financial risks</a:t>
            </a:r>
          </a:p>
        </p:txBody>
      </p:sp>
      <p:sp>
        <p:nvSpPr>
          <p:cNvPr id="7" name="Rounded Rectangle 6"/>
          <p:cNvSpPr/>
          <p:nvPr/>
        </p:nvSpPr>
        <p:spPr>
          <a:xfrm>
            <a:off x="548640" y="2788920"/>
            <a:ext cx="3611880" cy="3063240"/>
          </a:xfrm>
          <a:prstGeom prst="roundRect">
            <a:avLst>
              <a:gd name="adj" fmla="val 45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788920"/>
            <a:ext cx="3611880" cy="146304"/>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3127248"/>
            <a:ext cx="640080" cy="548640"/>
          </a:xfrm>
          <a:prstGeom prst="rect">
            <a:avLst/>
          </a:prstGeom>
          <a:noFill/>
        </p:spPr>
        <p:txBody>
          <a:bodyPr wrap="square" anchor="t">
            <a:spAutoFit/>
          </a:bodyPr>
          <a:lstStyle/>
          <a:p>
            <a:pPr algn="l">
              <a:lnSpc>
                <a:spcPct val="104000"/>
              </a:lnSpc>
              <a:spcAft>
                <a:spcPts val="0"/>
              </a:spcAft>
            </a:pPr>
            <a:r>
              <a:rPr sz="3200" b="1">
                <a:solidFill>
                  <a:srgbClr val="2A6F97"/>
                </a:solidFill>
                <a:latin typeface="Segoe UI Semibold"/>
              </a:rPr>
              <a:t>1</a:t>
            </a:r>
          </a:p>
        </p:txBody>
      </p:sp>
      <p:sp>
        <p:nvSpPr>
          <p:cNvPr id="10" name="TextBox 9"/>
          <p:cNvSpPr txBox="1"/>
          <p:nvPr/>
        </p:nvSpPr>
        <p:spPr>
          <a:xfrm>
            <a:off x="841247" y="3730752"/>
            <a:ext cx="3063240" cy="457200"/>
          </a:xfrm>
          <a:prstGeom prst="rect">
            <a:avLst/>
          </a:prstGeom>
          <a:noFill/>
        </p:spPr>
        <p:txBody>
          <a:bodyPr wrap="square" anchor="t">
            <a:spAutoFit/>
          </a:bodyPr>
          <a:lstStyle/>
          <a:p>
            <a:pPr algn="l">
              <a:lnSpc>
                <a:spcPct val="104000"/>
              </a:lnSpc>
              <a:spcAft>
                <a:spcPts val="0"/>
              </a:spcAft>
            </a:pPr>
            <a:r>
              <a:rPr sz="1700" b="1">
                <a:solidFill>
                  <a:srgbClr val="0B2545"/>
                </a:solidFill>
                <a:latin typeface="Segoe UI Semibold"/>
              </a:rPr>
              <a:t>DIE TOO SOON</a:t>
            </a:r>
          </a:p>
        </p:txBody>
      </p:sp>
      <p:sp>
        <p:nvSpPr>
          <p:cNvPr id="11" name="TextBox 10"/>
          <p:cNvSpPr txBox="1"/>
          <p:nvPr/>
        </p:nvSpPr>
        <p:spPr>
          <a:xfrm>
            <a:off x="841247" y="4224528"/>
            <a:ext cx="3044952" cy="1508760"/>
          </a:xfrm>
          <a:prstGeom prst="rect">
            <a:avLst/>
          </a:prstGeom>
          <a:noFill/>
        </p:spPr>
        <p:txBody>
          <a:bodyPr wrap="square" anchor="t">
            <a:spAutoFit/>
          </a:bodyPr>
          <a:lstStyle/>
          <a:p>
            <a:pPr algn="l">
              <a:lnSpc>
                <a:spcPct val="114000"/>
              </a:lnSpc>
              <a:spcAft>
                <a:spcPts val="0"/>
              </a:spcAft>
            </a:pPr>
            <a:r>
              <a:rPr sz="1400" b="0">
                <a:solidFill>
                  <a:srgbClr val="1A2433"/>
                </a:solidFill>
                <a:latin typeface="Segoe UI"/>
              </a:rPr>
              <a:t>Income and debts don’t disappear when you do. A death benefit replaces your income and keeps the family’s plan intact.</a:t>
            </a:r>
          </a:p>
        </p:txBody>
      </p:sp>
      <p:sp>
        <p:nvSpPr>
          <p:cNvPr id="12" name="Rounded Rectangle 11"/>
          <p:cNvSpPr/>
          <p:nvPr/>
        </p:nvSpPr>
        <p:spPr>
          <a:xfrm>
            <a:off x="4352544" y="2788920"/>
            <a:ext cx="3611880" cy="3063240"/>
          </a:xfrm>
          <a:prstGeom prst="roundRect">
            <a:avLst>
              <a:gd name="adj" fmla="val 45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2788920"/>
            <a:ext cx="3611880" cy="1463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3127248"/>
            <a:ext cx="640080" cy="548640"/>
          </a:xfrm>
          <a:prstGeom prst="rect">
            <a:avLst/>
          </a:prstGeom>
          <a:noFill/>
        </p:spPr>
        <p:txBody>
          <a:bodyPr wrap="square" anchor="t">
            <a:spAutoFit/>
          </a:bodyPr>
          <a:lstStyle/>
          <a:p>
            <a:pPr algn="l">
              <a:lnSpc>
                <a:spcPct val="104000"/>
              </a:lnSpc>
              <a:spcAft>
                <a:spcPts val="0"/>
              </a:spcAft>
            </a:pPr>
            <a:r>
              <a:rPr sz="3200" b="1">
                <a:solidFill>
                  <a:srgbClr val="C9A227"/>
                </a:solidFill>
                <a:latin typeface="Segoe UI Semibold"/>
              </a:rPr>
              <a:t>2</a:t>
            </a:r>
          </a:p>
        </p:txBody>
      </p:sp>
      <p:sp>
        <p:nvSpPr>
          <p:cNvPr id="15" name="TextBox 14"/>
          <p:cNvSpPr txBox="1"/>
          <p:nvPr/>
        </p:nvSpPr>
        <p:spPr>
          <a:xfrm>
            <a:off x="4645152" y="3730752"/>
            <a:ext cx="3063240" cy="457200"/>
          </a:xfrm>
          <a:prstGeom prst="rect">
            <a:avLst/>
          </a:prstGeom>
          <a:noFill/>
        </p:spPr>
        <p:txBody>
          <a:bodyPr wrap="square" anchor="t">
            <a:spAutoFit/>
          </a:bodyPr>
          <a:lstStyle/>
          <a:p>
            <a:pPr algn="l">
              <a:lnSpc>
                <a:spcPct val="104000"/>
              </a:lnSpc>
              <a:spcAft>
                <a:spcPts val="0"/>
              </a:spcAft>
            </a:pPr>
            <a:r>
              <a:rPr sz="1700" b="1">
                <a:solidFill>
                  <a:srgbClr val="0B2545"/>
                </a:solidFill>
                <a:latin typeface="Segoe UI Semibold"/>
              </a:rPr>
              <a:t>BECOME ILL</a:t>
            </a:r>
          </a:p>
        </p:txBody>
      </p:sp>
      <p:sp>
        <p:nvSpPr>
          <p:cNvPr id="16" name="TextBox 15"/>
          <p:cNvSpPr txBox="1"/>
          <p:nvPr/>
        </p:nvSpPr>
        <p:spPr>
          <a:xfrm>
            <a:off x="4645152" y="4224528"/>
            <a:ext cx="3044952" cy="1508760"/>
          </a:xfrm>
          <a:prstGeom prst="rect">
            <a:avLst/>
          </a:prstGeom>
          <a:noFill/>
        </p:spPr>
        <p:txBody>
          <a:bodyPr wrap="square" anchor="t">
            <a:spAutoFit/>
          </a:bodyPr>
          <a:lstStyle/>
          <a:p>
            <a:pPr algn="l">
              <a:lnSpc>
                <a:spcPct val="114000"/>
              </a:lnSpc>
              <a:spcAft>
                <a:spcPts val="0"/>
              </a:spcAft>
            </a:pPr>
            <a:r>
              <a:rPr sz="1400" b="0">
                <a:solidFill>
                  <a:srgbClr val="1A2433"/>
                </a:solidFill>
                <a:latin typeface="Segoe UI"/>
              </a:rPr>
              <a:t>A serious illness can drain savings fast. Living Benefits may pay you while you’re alive to cover bills and lost income.</a:t>
            </a:r>
          </a:p>
        </p:txBody>
      </p:sp>
      <p:sp>
        <p:nvSpPr>
          <p:cNvPr id="17" name="Rounded Rectangle 16"/>
          <p:cNvSpPr/>
          <p:nvPr/>
        </p:nvSpPr>
        <p:spPr>
          <a:xfrm>
            <a:off x="8156448" y="2788920"/>
            <a:ext cx="3611880" cy="3063240"/>
          </a:xfrm>
          <a:prstGeom prst="roundRect">
            <a:avLst>
              <a:gd name="adj" fmla="val 4500"/>
            </a:avLst>
          </a:prstGeom>
          <a:solidFill>
            <a:srgbClr val="FFFFFF"/>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56448" y="2788920"/>
            <a:ext cx="3611880" cy="146304"/>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49056" y="3127248"/>
            <a:ext cx="640080" cy="548640"/>
          </a:xfrm>
          <a:prstGeom prst="rect">
            <a:avLst/>
          </a:prstGeom>
          <a:noFill/>
        </p:spPr>
        <p:txBody>
          <a:bodyPr wrap="square" anchor="t">
            <a:spAutoFit/>
          </a:bodyPr>
          <a:lstStyle/>
          <a:p>
            <a:pPr algn="l">
              <a:lnSpc>
                <a:spcPct val="104000"/>
              </a:lnSpc>
              <a:spcAft>
                <a:spcPts val="0"/>
              </a:spcAft>
            </a:pPr>
            <a:r>
              <a:rPr sz="3200" b="1">
                <a:solidFill>
                  <a:srgbClr val="0B2545"/>
                </a:solidFill>
                <a:latin typeface="Segoe UI Semibold"/>
              </a:rPr>
              <a:t>3</a:t>
            </a:r>
          </a:p>
        </p:txBody>
      </p:sp>
      <p:sp>
        <p:nvSpPr>
          <p:cNvPr id="20" name="TextBox 19"/>
          <p:cNvSpPr txBox="1"/>
          <p:nvPr/>
        </p:nvSpPr>
        <p:spPr>
          <a:xfrm>
            <a:off x="8449056" y="3730752"/>
            <a:ext cx="3063240" cy="457200"/>
          </a:xfrm>
          <a:prstGeom prst="rect">
            <a:avLst/>
          </a:prstGeom>
          <a:noFill/>
        </p:spPr>
        <p:txBody>
          <a:bodyPr wrap="square" anchor="t">
            <a:spAutoFit/>
          </a:bodyPr>
          <a:lstStyle/>
          <a:p>
            <a:pPr algn="l">
              <a:lnSpc>
                <a:spcPct val="104000"/>
              </a:lnSpc>
              <a:spcAft>
                <a:spcPts val="0"/>
              </a:spcAft>
            </a:pPr>
            <a:r>
              <a:rPr sz="1700" b="1">
                <a:solidFill>
                  <a:srgbClr val="0B2545"/>
                </a:solidFill>
                <a:latin typeface="Segoe UI Semibold"/>
              </a:rPr>
              <a:t>LIVE TOO LONG</a:t>
            </a:r>
          </a:p>
        </p:txBody>
      </p:sp>
      <p:sp>
        <p:nvSpPr>
          <p:cNvPr id="21" name="TextBox 20"/>
          <p:cNvSpPr txBox="1"/>
          <p:nvPr/>
        </p:nvSpPr>
        <p:spPr>
          <a:xfrm>
            <a:off x="8449056" y="4224528"/>
            <a:ext cx="3044952" cy="1508760"/>
          </a:xfrm>
          <a:prstGeom prst="rect">
            <a:avLst/>
          </a:prstGeom>
          <a:noFill/>
        </p:spPr>
        <p:txBody>
          <a:bodyPr wrap="square" anchor="t">
            <a:spAutoFit/>
          </a:bodyPr>
          <a:lstStyle/>
          <a:p>
            <a:pPr algn="l">
              <a:lnSpc>
                <a:spcPct val="114000"/>
              </a:lnSpc>
              <a:spcAft>
                <a:spcPts val="0"/>
              </a:spcAft>
            </a:pPr>
            <a:r>
              <a:rPr sz="1400" b="0">
                <a:solidFill>
                  <a:srgbClr val="1A2433"/>
                </a:solidFill>
                <a:latin typeface="Segoe UI"/>
              </a:rPr>
              <a:t>Outliving your money is a real risk. Cash value and annuities can provide income you can’t outlive.</a:t>
            </a:r>
          </a:p>
        </p:txBody>
      </p:sp>
      <p:sp>
        <p:nvSpPr>
          <p:cNvPr id="22" name="TextBox 21"/>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3" name="TextBox 22"/>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FFFFFF"/>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OUR SOLUTIONS AT A GLANCE</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FFFFFF"/>
                </a:solidFill>
                <a:latin typeface="Segoe UI Semibold"/>
              </a:rPr>
              <a:t>Pick the concept that fits your situation</a:t>
            </a:r>
          </a:p>
        </p:txBody>
      </p:sp>
      <p:sp>
        <p:nvSpPr>
          <p:cNvPr id="7" name="Rounded Rectangle 6">
            <a:hlinkClick action="ppaction://hlinksldjump" r:id="rId3"/>
          </p:cNvPr>
          <p:cNvSpPr/>
          <p:nvPr/>
        </p:nvSpPr>
        <p:spPr>
          <a:xfrm>
            <a:off x="548640" y="26060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6060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a:hlinkClick action="ppaction://hlinksldjump" r:id="rId3"/>
          </p:cNvPr>
          <p:cNvSpPr txBox="1"/>
          <p:nvPr/>
        </p:nvSpPr>
        <p:spPr>
          <a:xfrm>
            <a:off x="868680" y="27249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Term Life</a:t>
            </a:r>
          </a:p>
        </p:txBody>
      </p:sp>
      <p:sp>
        <p:nvSpPr>
          <p:cNvPr id="10" name="TextBox 9">
            <a:hlinkClick action="ppaction://hlinksldjump" r:id="rId3"/>
          </p:cNvPr>
          <p:cNvSpPr txBox="1"/>
          <p:nvPr/>
        </p:nvSpPr>
        <p:spPr>
          <a:xfrm>
            <a:off x="868680" y="30632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Affordable protection for a set period</a:t>
            </a:r>
          </a:p>
        </p:txBody>
      </p:sp>
      <p:sp>
        <p:nvSpPr>
          <p:cNvPr id="11" name="TextBox 10"/>
          <p:cNvSpPr txBox="1"/>
          <p:nvPr/>
        </p:nvSpPr>
        <p:spPr>
          <a:xfrm>
            <a:off x="5422392" y="27523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12" name="Rounded Rectangle 11">
            <a:hlinkClick action="ppaction://hlinksldjump" r:id="rId4"/>
          </p:cNvPr>
          <p:cNvSpPr/>
          <p:nvPr/>
        </p:nvSpPr>
        <p:spPr>
          <a:xfrm>
            <a:off x="6217920" y="26060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6060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a:hlinkClick action="ppaction://hlinksldjump" r:id="rId4"/>
          </p:cNvPr>
          <p:cNvSpPr txBox="1"/>
          <p:nvPr/>
        </p:nvSpPr>
        <p:spPr>
          <a:xfrm>
            <a:off x="6537959" y="27249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Permanent Life (IUL)</a:t>
            </a:r>
          </a:p>
        </p:txBody>
      </p:sp>
      <p:sp>
        <p:nvSpPr>
          <p:cNvPr id="15" name="TextBox 14">
            <a:hlinkClick action="ppaction://hlinksldjump" r:id="rId4"/>
          </p:cNvPr>
          <p:cNvSpPr txBox="1"/>
          <p:nvPr/>
        </p:nvSpPr>
        <p:spPr>
          <a:xfrm>
            <a:off x="6537959" y="30632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Lifetime coverage that builds value</a:t>
            </a:r>
          </a:p>
        </p:txBody>
      </p:sp>
      <p:sp>
        <p:nvSpPr>
          <p:cNvPr id="16" name="TextBox 15"/>
          <p:cNvSpPr txBox="1"/>
          <p:nvPr/>
        </p:nvSpPr>
        <p:spPr>
          <a:xfrm>
            <a:off x="11091672" y="27523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17" name="Rounded Rectangle 16">
            <a:hlinkClick action="ppaction://hlinksldjump" r:id="rId5"/>
          </p:cNvPr>
          <p:cNvSpPr/>
          <p:nvPr/>
        </p:nvSpPr>
        <p:spPr>
          <a:xfrm>
            <a:off x="548640" y="35204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204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a:hlinkClick action="ppaction://hlinksldjump" r:id="rId5"/>
          </p:cNvPr>
          <p:cNvSpPr txBox="1"/>
          <p:nvPr/>
        </p:nvSpPr>
        <p:spPr>
          <a:xfrm>
            <a:off x="868680" y="36393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Mortgage Protection</a:t>
            </a:r>
          </a:p>
        </p:txBody>
      </p:sp>
      <p:sp>
        <p:nvSpPr>
          <p:cNvPr id="20" name="TextBox 19">
            <a:hlinkClick action="ppaction://hlinksldjump" r:id="rId5"/>
          </p:cNvPr>
          <p:cNvSpPr txBox="1"/>
          <p:nvPr/>
        </p:nvSpPr>
        <p:spPr>
          <a:xfrm>
            <a:off x="868680" y="3977639"/>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Keep your family in the home</a:t>
            </a:r>
          </a:p>
        </p:txBody>
      </p:sp>
      <p:sp>
        <p:nvSpPr>
          <p:cNvPr id="21" name="TextBox 20"/>
          <p:cNvSpPr txBox="1"/>
          <p:nvPr/>
        </p:nvSpPr>
        <p:spPr>
          <a:xfrm>
            <a:off x="5422392" y="36667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22" name="Rounded Rectangle 21">
            <a:hlinkClick action="ppaction://hlinksldjump" r:id="rId6"/>
          </p:cNvPr>
          <p:cNvSpPr/>
          <p:nvPr/>
        </p:nvSpPr>
        <p:spPr>
          <a:xfrm>
            <a:off x="6217920" y="35204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5204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a:hlinkClick action="ppaction://hlinksldjump" r:id="rId6"/>
          </p:cNvPr>
          <p:cNvSpPr txBox="1"/>
          <p:nvPr/>
        </p:nvSpPr>
        <p:spPr>
          <a:xfrm>
            <a:off x="6537959" y="36393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Limited-Pay IUL</a:t>
            </a:r>
          </a:p>
        </p:txBody>
      </p:sp>
      <p:sp>
        <p:nvSpPr>
          <p:cNvPr id="25" name="TextBox 24">
            <a:hlinkClick action="ppaction://hlinksldjump" r:id="rId6"/>
          </p:cNvPr>
          <p:cNvSpPr txBox="1"/>
          <p:nvPr/>
        </p:nvSpPr>
        <p:spPr>
          <a:xfrm>
            <a:off x="6537959" y="3977639"/>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Pay 10–15 years, insured for life</a:t>
            </a:r>
          </a:p>
        </p:txBody>
      </p:sp>
      <p:sp>
        <p:nvSpPr>
          <p:cNvPr id="26" name="TextBox 25"/>
          <p:cNvSpPr txBox="1"/>
          <p:nvPr/>
        </p:nvSpPr>
        <p:spPr>
          <a:xfrm>
            <a:off x="11091672" y="36667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27" name="Rounded Rectangle 26">
            <a:hlinkClick action="ppaction://hlinksldjump" r:id="rId7"/>
          </p:cNvPr>
          <p:cNvSpPr/>
          <p:nvPr/>
        </p:nvSpPr>
        <p:spPr>
          <a:xfrm>
            <a:off x="548640" y="44348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44348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a:hlinkClick action="ppaction://hlinksldjump" r:id="rId7"/>
          </p:cNvPr>
          <p:cNvSpPr txBox="1"/>
          <p:nvPr/>
        </p:nvSpPr>
        <p:spPr>
          <a:xfrm>
            <a:off x="868680" y="45537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IUL Retirement Income</a:t>
            </a:r>
          </a:p>
        </p:txBody>
      </p:sp>
      <p:sp>
        <p:nvSpPr>
          <p:cNvPr id="30" name="TextBox 29">
            <a:hlinkClick action="ppaction://hlinksldjump" r:id="rId7"/>
          </p:cNvPr>
          <p:cNvSpPr txBox="1"/>
          <p:nvPr/>
        </p:nvSpPr>
        <p:spPr>
          <a:xfrm>
            <a:off x="868680" y="48920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A tax-advantaged income bucket</a:t>
            </a:r>
          </a:p>
        </p:txBody>
      </p:sp>
      <p:sp>
        <p:nvSpPr>
          <p:cNvPr id="31" name="TextBox 30"/>
          <p:cNvSpPr txBox="1"/>
          <p:nvPr/>
        </p:nvSpPr>
        <p:spPr>
          <a:xfrm>
            <a:off x="5422392" y="45811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32" name="Rounded Rectangle 31">
            <a:hlinkClick action="ppaction://hlinksldjump" r:id="rId8"/>
          </p:cNvPr>
          <p:cNvSpPr/>
          <p:nvPr/>
        </p:nvSpPr>
        <p:spPr>
          <a:xfrm>
            <a:off x="6217920" y="44348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44348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action="ppaction://hlinksldjump" r:id="rId8"/>
          </p:cNvPr>
          <p:cNvSpPr txBox="1"/>
          <p:nvPr/>
        </p:nvSpPr>
        <p:spPr>
          <a:xfrm>
            <a:off x="6537959" y="45537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Living Benefits</a:t>
            </a:r>
          </a:p>
        </p:txBody>
      </p:sp>
      <p:sp>
        <p:nvSpPr>
          <p:cNvPr id="35" name="TextBox 34">
            <a:hlinkClick action="ppaction://hlinksldjump" r:id="rId8"/>
          </p:cNvPr>
          <p:cNvSpPr txBox="1"/>
          <p:nvPr/>
        </p:nvSpPr>
        <p:spPr>
          <a:xfrm>
            <a:off x="6537959" y="48920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Coverage you can use while alive</a:t>
            </a:r>
          </a:p>
        </p:txBody>
      </p:sp>
      <p:sp>
        <p:nvSpPr>
          <p:cNvPr id="36" name="TextBox 35"/>
          <p:cNvSpPr txBox="1"/>
          <p:nvPr/>
        </p:nvSpPr>
        <p:spPr>
          <a:xfrm>
            <a:off x="11091672" y="45811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37" name="Rounded Rectangle 36">
            <a:hlinkClick action="ppaction://hlinksldjump" r:id="rId9"/>
          </p:cNvPr>
          <p:cNvSpPr/>
          <p:nvPr/>
        </p:nvSpPr>
        <p:spPr>
          <a:xfrm>
            <a:off x="548640" y="53492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3492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a:hlinkClick action="ppaction://hlinksldjump" r:id="rId9"/>
          </p:cNvPr>
          <p:cNvSpPr txBox="1"/>
          <p:nvPr/>
        </p:nvSpPr>
        <p:spPr>
          <a:xfrm>
            <a:off x="868680" y="54681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Business Owner Plans</a:t>
            </a:r>
          </a:p>
        </p:txBody>
      </p:sp>
      <p:sp>
        <p:nvSpPr>
          <p:cNvPr id="40" name="TextBox 39">
            <a:hlinkClick action="ppaction://hlinksldjump" r:id="rId9"/>
          </p:cNvPr>
          <p:cNvSpPr txBox="1"/>
          <p:nvPr/>
        </p:nvSpPr>
        <p:spPr>
          <a:xfrm>
            <a:off x="868680" y="58064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Protect the business &amp; the owner</a:t>
            </a:r>
          </a:p>
        </p:txBody>
      </p:sp>
      <p:sp>
        <p:nvSpPr>
          <p:cNvPr id="41" name="TextBox 40"/>
          <p:cNvSpPr txBox="1"/>
          <p:nvPr/>
        </p:nvSpPr>
        <p:spPr>
          <a:xfrm>
            <a:off x="5422392" y="54955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42" name="Rounded Rectangle 41">
            <a:hlinkClick action="ppaction://hlinksldjump" r:id="rId10"/>
          </p:cNvPr>
          <p:cNvSpPr/>
          <p:nvPr/>
        </p:nvSpPr>
        <p:spPr>
          <a:xfrm>
            <a:off x="6217920" y="5349240"/>
            <a:ext cx="5440680" cy="749808"/>
          </a:xfrm>
          <a:prstGeom prst="roundRect">
            <a:avLst>
              <a:gd name="adj" fmla="val 10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5349240"/>
            <a:ext cx="109728" cy="74980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a:hlinkClick action="ppaction://hlinksldjump" r:id="rId10"/>
          </p:cNvPr>
          <p:cNvSpPr txBox="1"/>
          <p:nvPr/>
        </p:nvSpPr>
        <p:spPr>
          <a:xfrm>
            <a:off x="6537959" y="5468112"/>
            <a:ext cx="4572000" cy="365760"/>
          </a:xfrm>
          <a:prstGeom prst="rect">
            <a:avLst/>
          </a:prstGeom>
          <a:noFill/>
        </p:spPr>
        <p:txBody>
          <a:bodyPr wrap="square" anchor="t">
            <a:spAutoFit/>
          </a:bodyPr>
          <a:lstStyle/>
          <a:p>
            <a:pPr algn="l">
              <a:lnSpc>
                <a:spcPct val="104000"/>
              </a:lnSpc>
              <a:spcAft>
                <a:spcPts val="0"/>
              </a:spcAft>
            </a:pPr>
            <a:r>
              <a:rPr sz="1550" b="1">
                <a:solidFill>
                  <a:srgbClr val="FFFFFF"/>
                </a:solidFill>
                <a:latin typeface="Segoe UI Semibold"/>
              </a:rPr>
              <a:t>Annuities &amp; Rollovers</a:t>
            </a:r>
          </a:p>
        </p:txBody>
      </p:sp>
      <p:sp>
        <p:nvSpPr>
          <p:cNvPr id="45" name="TextBox 44">
            <a:hlinkClick action="ppaction://hlinksldjump" r:id="rId10"/>
          </p:cNvPr>
          <p:cNvSpPr txBox="1"/>
          <p:nvPr/>
        </p:nvSpPr>
        <p:spPr>
          <a:xfrm>
            <a:off x="6537959" y="5806440"/>
            <a:ext cx="4572000" cy="320040"/>
          </a:xfrm>
          <a:prstGeom prst="rect">
            <a:avLst/>
          </a:prstGeom>
          <a:noFill/>
        </p:spPr>
        <p:txBody>
          <a:bodyPr wrap="square" anchor="t">
            <a:spAutoFit/>
          </a:bodyPr>
          <a:lstStyle/>
          <a:p>
            <a:pPr algn="l">
              <a:lnSpc>
                <a:spcPct val="104000"/>
              </a:lnSpc>
              <a:spcAft>
                <a:spcPts val="0"/>
              </a:spcAft>
            </a:pPr>
            <a:r>
              <a:rPr sz="1150" b="0">
                <a:solidFill>
                  <a:srgbClr val="C9D2DE"/>
                </a:solidFill>
                <a:latin typeface="Segoe UI"/>
              </a:rPr>
              <a:t>Income you can’t outlive</a:t>
            </a:r>
          </a:p>
        </p:txBody>
      </p:sp>
      <p:sp>
        <p:nvSpPr>
          <p:cNvPr id="46" name="TextBox 45"/>
          <p:cNvSpPr txBox="1"/>
          <p:nvPr/>
        </p:nvSpPr>
        <p:spPr>
          <a:xfrm>
            <a:off x="11091672" y="5495544"/>
            <a:ext cx="411480" cy="457200"/>
          </a:xfrm>
          <a:prstGeom prst="rect">
            <a:avLst/>
          </a:prstGeom>
          <a:noFill/>
        </p:spPr>
        <p:txBody>
          <a:bodyPr wrap="square" anchor="ctr">
            <a:spAutoFit/>
          </a:bodyPr>
          <a:lstStyle/>
          <a:p>
            <a:pPr algn="r">
              <a:lnSpc>
                <a:spcPct val="104000"/>
              </a:lnSpc>
              <a:spcAft>
                <a:spcPts val="0"/>
              </a:spcAft>
            </a:pPr>
            <a:r>
              <a:rPr sz="2200" b="1">
                <a:solidFill>
                  <a:srgbClr val="C9A227"/>
                </a:solidFill>
                <a:latin typeface="Segoe UI Semibold"/>
              </a:rPr>
              <a:t>→</a:t>
            </a:r>
          </a:p>
        </p:txBody>
      </p:sp>
      <p:sp>
        <p:nvSpPr>
          <p:cNvPr id="47" name="TextBox 46"/>
          <p:cNvSpPr txBox="1"/>
          <p:nvPr/>
        </p:nvSpPr>
        <p:spPr>
          <a:xfrm>
            <a:off x="548640" y="6236208"/>
            <a:ext cx="11091672" cy="274320"/>
          </a:xfrm>
          <a:prstGeom prst="rect">
            <a:avLst/>
          </a:prstGeom>
          <a:noFill/>
        </p:spPr>
        <p:txBody>
          <a:bodyPr wrap="square" anchor="t">
            <a:spAutoFit/>
          </a:bodyPr>
          <a:lstStyle/>
          <a:p>
            <a:pPr algn="ctr">
              <a:lnSpc>
                <a:spcPct val="104000"/>
              </a:lnSpc>
              <a:spcAft>
                <a:spcPts val="0"/>
              </a:spcAft>
            </a:pPr>
            <a:r>
              <a:rPr sz="1050" b="0">
                <a:solidFill>
                  <a:srgbClr val="9AC0E0"/>
                </a:solidFill>
                <a:latin typeface="Segoe UI"/>
              </a:rPr>
              <a:t>Tip: in the web viewer, click any concept to jump straight to it.</a:t>
            </a:r>
          </a:p>
        </p:txBody>
      </p:sp>
      <p:sp>
        <p:nvSpPr>
          <p:cNvPr id="48" name="TextBox 47"/>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C9D2DE"/>
                </a:solidFill>
                <a:latin typeface="Segoe UI"/>
              </a:rPr>
              <a:t>Goodwill Financial · Living Benefits Team    |    Educational use only — not financial, tax, or legal advice</a:t>
            </a:r>
          </a:p>
        </p:txBody>
      </p:sp>
      <p:sp>
        <p:nvSpPr>
          <p:cNvPr id="49" name="TextBox 48"/>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C9D2DE"/>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1 / 8</a:t>
            </a:r>
          </a:p>
        </p:txBody>
      </p:sp>
      <p:sp>
        <p:nvSpPr>
          <p:cNvPr id="5" name="Rectangle 4"/>
          <p:cNvSpPr/>
          <p:nvPr/>
        </p:nvSpPr>
        <p:spPr>
          <a:xfrm>
            <a:off x="521207" y="1371600"/>
            <a:ext cx="566928" cy="50292"/>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Term Life Insurance</a:t>
            </a:r>
          </a:p>
        </p:txBody>
      </p:sp>
      <p:sp>
        <p:nvSpPr>
          <p:cNvPr id="7" name="Rounded Rectangle 6"/>
          <p:cNvSpPr/>
          <p:nvPr/>
        </p:nvSpPr>
        <p:spPr>
          <a:xfrm>
            <a:off x="548640" y="2487168"/>
            <a:ext cx="11091672" cy="640080"/>
          </a:xfrm>
          <a:prstGeom prst="roundRect">
            <a:avLst>
              <a:gd name="adj" fmla="val 12000"/>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“Renting” your coverage — protection for a defined period.</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Pure protection for a set number of years (10, 20, 30). The most coverage per dollar, with no cash value.</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Young families on a budget; covering an income or mortgage window during the years your family is most vulnerable.</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Maximum death benefit for the lowest cost today — a simple safety net while you build everything else.</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2 / 8</a:t>
            </a:r>
          </a:p>
        </p:txBody>
      </p:sp>
      <p:sp>
        <p:nvSpPr>
          <p:cNvPr id="5" name="Rectangle 4"/>
          <p:cNvSpPr/>
          <p:nvPr/>
        </p:nvSpPr>
        <p:spPr>
          <a:xfrm>
            <a:off x="521207" y="1371600"/>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Permanent Life Insurance (IUL)</a:t>
            </a:r>
          </a:p>
        </p:txBody>
      </p:sp>
      <p:sp>
        <p:nvSpPr>
          <p:cNvPr id="7" name="Rounded Rectangle 6"/>
          <p:cNvSpPr/>
          <p:nvPr/>
        </p:nvSpPr>
        <p:spPr>
          <a:xfrm>
            <a:off x="548640" y="2487168"/>
            <a:ext cx="11091672" cy="640080"/>
          </a:xfrm>
          <a:prstGeom prst="roundRect">
            <a:avLst>
              <a:gd name="adj" fmla="val 12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“Owning” your coverage — it builds equity, like a home.</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Coverage designed to last your whole life. It builds cash value linked to a market index, with a floor (typically 0%) so a market drop doesn’t lose your value.</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Anyone who wants lifetime certainty, built-in Living Benefits, and a tax-advantaged place to build cash value.</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It never expires, it builds value you may use later, and it includes Living Benefits — not just a death payout.</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TERM VS. PERMANENT</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Renting your coverage vs. owning it</a:t>
            </a:r>
          </a:p>
        </p:txBody>
      </p:sp>
      <p:sp>
        <p:nvSpPr>
          <p:cNvPr id="7" name="Rounded Rectangle 6"/>
          <p:cNvSpPr/>
          <p:nvPr/>
        </p:nvSpPr>
        <p:spPr>
          <a:xfrm>
            <a:off x="548640" y="2743200"/>
            <a:ext cx="5349240" cy="3246120"/>
          </a:xfrm>
          <a:prstGeom prst="roundRect">
            <a:avLst>
              <a:gd name="adj" fmla="val 4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743200"/>
            <a:ext cx="5349240" cy="640080"/>
          </a:xfrm>
          <a:prstGeom prst="roundRect">
            <a:avLst>
              <a:gd name="adj" fmla="val 4000"/>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788920"/>
            <a:ext cx="5349240" cy="548640"/>
          </a:xfrm>
          <a:prstGeom prst="rect">
            <a:avLst/>
          </a:prstGeom>
          <a:noFill/>
        </p:spPr>
        <p:txBody>
          <a:bodyPr wrap="square" anchor="ctr">
            <a:spAutoFit/>
          </a:bodyPr>
          <a:lstStyle/>
          <a:p>
            <a:pPr algn="ctr">
              <a:lnSpc>
                <a:spcPct val="104000"/>
              </a:lnSpc>
              <a:spcAft>
                <a:spcPts val="0"/>
              </a:spcAft>
            </a:pPr>
            <a:r>
              <a:rPr sz="1800" b="1">
                <a:solidFill>
                  <a:srgbClr val="FFFFFF"/>
                </a:solidFill>
                <a:latin typeface="Segoe UI Semibold"/>
              </a:rPr>
              <a:t>TERM  —  “Renting”</a:t>
            </a:r>
          </a:p>
        </p:txBody>
      </p:sp>
      <p:sp>
        <p:nvSpPr>
          <p:cNvPr id="10" name="TextBox 9"/>
          <p:cNvSpPr txBox="1"/>
          <p:nvPr/>
        </p:nvSpPr>
        <p:spPr>
          <a:xfrm>
            <a:off x="822960" y="3611880"/>
            <a:ext cx="4846320" cy="2286000"/>
          </a:xfrm>
          <a:prstGeom prst="rect">
            <a:avLst/>
          </a:prstGeom>
          <a:noFill/>
        </p:spPr>
        <p:txBody>
          <a:bodyPr wrap="square">
            <a:spAutoFit/>
          </a:bodyPr>
          <a:lstStyle/>
          <a:p>
            <a:pPr>
              <a:lnSpc>
                <a:spcPct val="105000"/>
              </a:lnSpc>
              <a:spcAft>
                <a:spcPts val="1000"/>
              </a:spcAft>
            </a:pPr>
            <a:r>
              <a:rPr sz="1450" b="1">
                <a:solidFill>
                  <a:srgbClr val="2A6F97"/>
                </a:solidFill>
                <a:latin typeface="Segoe UI"/>
              </a:rPr>
              <a:t>▪  </a:t>
            </a:r>
            <a:r>
              <a:rPr sz="1450">
                <a:solidFill>
                  <a:srgbClr val="1A2433"/>
                </a:solidFill>
                <a:latin typeface="Segoe UI"/>
              </a:rPr>
              <a:t>Temporary — covers a set number of years, then ends.</a:t>
            </a:r>
          </a:p>
          <a:p>
            <a:pPr>
              <a:lnSpc>
                <a:spcPct val="105000"/>
              </a:lnSpc>
              <a:spcAft>
                <a:spcPts val="1000"/>
              </a:spcAft>
            </a:pPr>
            <a:r>
              <a:rPr sz="1450" b="1">
                <a:solidFill>
                  <a:srgbClr val="2A6F97"/>
                </a:solidFill>
                <a:latin typeface="Segoe UI"/>
              </a:rPr>
              <a:t>▪  </a:t>
            </a:r>
            <a:r>
              <a:rPr sz="1450">
                <a:solidFill>
                  <a:srgbClr val="1A2433"/>
                </a:solidFill>
                <a:latin typeface="Segoe UI"/>
              </a:rPr>
              <a:t>Lower cost up front.</a:t>
            </a:r>
          </a:p>
          <a:p>
            <a:pPr>
              <a:lnSpc>
                <a:spcPct val="105000"/>
              </a:lnSpc>
              <a:spcAft>
                <a:spcPts val="1000"/>
              </a:spcAft>
            </a:pPr>
            <a:r>
              <a:rPr sz="1450" b="1">
                <a:solidFill>
                  <a:srgbClr val="2A6F97"/>
                </a:solidFill>
                <a:latin typeface="Segoe UI"/>
              </a:rPr>
              <a:t>▪  </a:t>
            </a:r>
            <a:r>
              <a:rPr sz="1450">
                <a:solidFill>
                  <a:srgbClr val="1A2433"/>
                </a:solidFill>
                <a:latin typeface="Segoe UI"/>
              </a:rPr>
              <a:t>Usually pays only at death; nothing back if you outlive it.</a:t>
            </a:r>
          </a:p>
          <a:p>
            <a:pPr>
              <a:lnSpc>
                <a:spcPct val="105000"/>
              </a:lnSpc>
              <a:spcAft>
                <a:spcPts val="1000"/>
              </a:spcAft>
            </a:pPr>
            <a:r>
              <a:rPr sz="1450" b="1">
                <a:solidFill>
                  <a:srgbClr val="2A6F97"/>
                </a:solidFill>
                <a:latin typeface="Segoe UI"/>
              </a:rPr>
              <a:t>▪  </a:t>
            </a:r>
            <a:r>
              <a:rPr sz="1450">
                <a:solidFill>
                  <a:srgbClr val="1A2433"/>
                </a:solidFill>
                <a:latin typeface="Segoe UI"/>
              </a:rPr>
              <a:t>Premiums can jump sharply if you renew later in life.</a:t>
            </a:r>
          </a:p>
        </p:txBody>
      </p:sp>
      <p:sp>
        <p:nvSpPr>
          <p:cNvPr id="11" name="Rounded Rectangle 10"/>
          <p:cNvSpPr/>
          <p:nvPr/>
        </p:nvSpPr>
        <p:spPr>
          <a:xfrm>
            <a:off x="6309360" y="2743200"/>
            <a:ext cx="5349240" cy="3246120"/>
          </a:xfrm>
          <a:prstGeom prst="roundRect">
            <a:avLst>
              <a:gd name="adj" fmla="val 4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2743200"/>
            <a:ext cx="5349240" cy="640080"/>
          </a:xfrm>
          <a:prstGeom prst="roundRect">
            <a:avLst>
              <a:gd name="adj" fmla="val 4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2788920"/>
            <a:ext cx="5349240" cy="548640"/>
          </a:xfrm>
          <a:prstGeom prst="rect">
            <a:avLst/>
          </a:prstGeom>
          <a:noFill/>
        </p:spPr>
        <p:txBody>
          <a:bodyPr wrap="square" anchor="ctr">
            <a:spAutoFit/>
          </a:bodyPr>
          <a:lstStyle/>
          <a:p>
            <a:pPr algn="ctr">
              <a:lnSpc>
                <a:spcPct val="104000"/>
              </a:lnSpc>
              <a:spcAft>
                <a:spcPts val="0"/>
              </a:spcAft>
            </a:pPr>
            <a:r>
              <a:rPr sz="1800" b="1">
                <a:solidFill>
                  <a:srgbClr val="0B2545"/>
                </a:solidFill>
                <a:latin typeface="Segoe UI Semibold"/>
              </a:rPr>
              <a:t>PERMANENT (IUL)  —  “Owning”</a:t>
            </a:r>
          </a:p>
        </p:txBody>
      </p:sp>
      <p:sp>
        <p:nvSpPr>
          <p:cNvPr id="14" name="TextBox 13"/>
          <p:cNvSpPr txBox="1"/>
          <p:nvPr/>
        </p:nvSpPr>
        <p:spPr>
          <a:xfrm>
            <a:off x="6583680" y="3611880"/>
            <a:ext cx="4846320" cy="2286000"/>
          </a:xfrm>
          <a:prstGeom prst="rect">
            <a:avLst/>
          </a:prstGeom>
          <a:noFill/>
        </p:spPr>
        <p:txBody>
          <a:bodyPr wrap="square">
            <a:spAutoFit/>
          </a:bodyPr>
          <a:lstStyle/>
          <a:p>
            <a:pPr>
              <a:lnSpc>
                <a:spcPct val="105000"/>
              </a:lnSpc>
              <a:spcAft>
                <a:spcPts val="1000"/>
              </a:spcAft>
            </a:pPr>
            <a:r>
              <a:rPr sz="1450" b="1">
                <a:solidFill>
                  <a:srgbClr val="C9A227"/>
                </a:solidFill>
                <a:latin typeface="Segoe UI"/>
              </a:rPr>
              <a:t>▪  </a:t>
            </a:r>
            <a:r>
              <a:rPr sz="1450">
                <a:solidFill>
                  <a:srgbClr val="FFFFFF"/>
                </a:solidFill>
                <a:latin typeface="Segoe UI"/>
              </a:rPr>
              <a:t>Lasts your whole life — coverage doesn’t expire.</a:t>
            </a:r>
          </a:p>
          <a:p>
            <a:pPr>
              <a:lnSpc>
                <a:spcPct val="105000"/>
              </a:lnSpc>
              <a:spcAft>
                <a:spcPts val="1000"/>
              </a:spcAft>
            </a:pPr>
            <a:r>
              <a:rPr sz="1450" b="1">
                <a:solidFill>
                  <a:srgbClr val="C9A227"/>
                </a:solidFill>
                <a:latin typeface="Segoe UI"/>
              </a:rPr>
              <a:t>▪  </a:t>
            </a:r>
            <a:r>
              <a:rPr sz="1450">
                <a:solidFill>
                  <a:srgbClr val="FFFFFF"/>
                </a:solidFill>
                <a:latin typeface="Segoe UI"/>
              </a:rPr>
              <a:t>Builds cash value you may be able to use later.</a:t>
            </a:r>
          </a:p>
          <a:p>
            <a:pPr>
              <a:lnSpc>
                <a:spcPct val="105000"/>
              </a:lnSpc>
              <a:spcAft>
                <a:spcPts val="1000"/>
              </a:spcAft>
            </a:pPr>
            <a:r>
              <a:rPr sz="1450" b="1">
                <a:solidFill>
                  <a:srgbClr val="C9A227"/>
                </a:solidFill>
                <a:latin typeface="Segoe UI"/>
              </a:rPr>
              <a:t>▪  </a:t>
            </a:r>
            <a:r>
              <a:rPr sz="1450">
                <a:solidFill>
                  <a:srgbClr val="FFFFFF"/>
                </a:solidFill>
                <a:latin typeface="Segoe UI"/>
              </a:rPr>
              <a:t>Includes Living Benefits for illness — not just death.</a:t>
            </a:r>
          </a:p>
          <a:p>
            <a:pPr>
              <a:lnSpc>
                <a:spcPct val="105000"/>
              </a:lnSpc>
              <a:spcAft>
                <a:spcPts val="1000"/>
              </a:spcAft>
            </a:pPr>
            <a:r>
              <a:rPr sz="1450" b="1">
                <a:solidFill>
                  <a:srgbClr val="C9A227"/>
                </a:solidFill>
                <a:latin typeface="Segoe UI"/>
              </a:rPr>
              <a:t>▪  </a:t>
            </a:r>
            <a:r>
              <a:rPr sz="1450">
                <a:solidFill>
                  <a:srgbClr val="FFFFFF"/>
                </a:solidFill>
                <a:latin typeface="Segoe UI"/>
              </a:rPr>
              <a:t>Can be structured to pay for a limited number of years.</a:t>
            </a:r>
          </a:p>
        </p:txBody>
      </p:sp>
      <p:sp>
        <p:nvSpPr>
          <p:cNvPr id="15" name="TextBox 14"/>
          <p:cNvSpPr txBox="1"/>
          <p:nvPr/>
        </p:nvSpPr>
        <p:spPr>
          <a:xfrm>
            <a:off x="548640" y="6126480"/>
            <a:ext cx="11064240" cy="365760"/>
          </a:xfrm>
          <a:prstGeom prst="rect">
            <a:avLst/>
          </a:prstGeom>
          <a:noFill/>
        </p:spPr>
        <p:txBody>
          <a:bodyPr wrap="square" anchor="t">
            <a:spAutoFit/>
          </a:bodyPr>
          <a:lstStyle/>
          <a:p>
            <a:pPr algn="ctr">
              <a:lnSpc>
                <a:spcPct val="104000"/>
              </a:lnSpc>
              <a:spcAft>
                <a:spcPts val="0"/>
              </a:spcAft>
            </a:pPr>
            <a:r>
              <a:rPr sz="1350" b="0">
                <a:solidFill>
                  <a:srgbClr val="6B7280"/>
                </a:solidFill>
                <a:latin typeface="Segoe UI"/>
              </a:rPr>
              <a:t>Both have a place. For a home you plan to keep — and a family you’ll always want protected — owning often wins.</a:t>
            </a:r>
          </a:p>
        </p:txBody>
      </p:sp>
      <p:sp>
        <p:nvSpPr>
          <p:cNvPr id="16" name="TextBox 15"/>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7" name="TextBox 16"/>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3 / 8</a:t>
            </a:r>
          </a:p>
        </p:txBody>
      </p:sp>
      <p:sp>
        <p:nvSpPr>
          <p:cNvPr id="5" name="Rectangle 4"/>
          <p:cNvSpPr/>
          <p:nvPr/>
        </p:nvSpPr>
        <p:spPr>
          <a:xfrm>
            <a:off x="521207" y="1371600"/>
            <a:ext cx="566928" cy="50292"/>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Mortgage Protection</a:t>
            </a:r>
          </a:p>
        </p:txBody>
      </p:sp>
      <p:sp>
        <p:nvSpPr>
          <p:cNvPr id="7" name="Rounded Rectangle 6"/>
          <p:cNvSpPr/>
          <p:nvPr/>
        </p:nvSpPr>
        <p:spPr>
          <a:xfrm>
            <a:off x="548640" y="2487168"/>
            <a:ext cx="11091672" cy="640080"/>
          </a:xfrm>
          <a:prstGeom prst="roundRect">
            <a:avLst>
              <a:gd name="adj" fmla="val 12000"/>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Protect the payment, not just the house.</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Life insurance built around your mortgage and the income that pays it, so your family can keep the home no matter what happens to you.</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Homeowners with a mortgage and people who depend on their income — the core of most first meetings.</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Your homeowners policy protects the house from fire and storms; this protects the payment. The family stays — no forced sale.</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4 / 8</a:t>
            </a:r>
          </a:p>
        </p:txBody>
      </p:sp>
      <p:sp>
        <p:nvSpPr>
          <p:cNvPr id="5" name="Rectangle 4"/>
          <p:cNvSpPr/>
          <p:nvPr/>
        </p:nvSpPr>
        <p:spPr>
          <a:xfrm>
            <a:off x="521207" y="1371600"/>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Limited-Pay IUL</a:t>
            </a:r>
          </a:p>
        </p:txBody>
      </p:sp>
      <p:sp>
        <p:nvSpPr>
          <p:cNvPr id="7" name="Rounded Rectangle 6"/>
          <p:cNvSpPr/>
          <p:nvPr/>
        </p:nvSpPr>
        <p:spPr>
          <a:xfrm>
            <a:off x="548640" y="2487168"/>
            <a:ext cx="11091672" cy="640080"/>
          </a:xfrm>
          <a:prstGeom prst="roundRect">
            <a:avLst>
              <a:gd name="adj" fmla="val 12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Pay for a set period. Stay protected for life.</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Concentrate your premiums into about 10–15 years instead of paying for life. After the pay period, the goal is coverage that continues — with cash value still working.</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Peak earners who want to finish paying before retirement and free up future cash flow.</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Pay during your strongest earning years, then stop — while keeping lifetime protection and a growing cash-value bucket.</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5 / 8</a:t>
            </a:r>
          </a:p>
        </p:txBody>
      </p:sp>
      <p:sp>
        <p:nvSpPr>
          <p:cNvPr id="5" name="Rectangle 4"/>
          <p:cNvSpPr/>
          <p:nvPr/>
        </p:nvSpPr>
        <p:spPr>
          <a:xfrm>
            <a:off x="521207" y="1371600"/>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100584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IUL for Retirement Income</a:t>
            </a:r>
          </a:p>
        </p:txBody>
      </p:sp>
      <p:sp>
        <p:nvSpPr>
          <p:cNvPr id="7" name="Rounded Rectangle 6"/>
          <p:cNvSpPr/>
          <p:nvPr/>
        </p:nvSpPr>
        <p:spPr>
          <a:xfrm>
            <a:off x="548640" y="2377440"/>
            <a:ext cx="11091672" cy="640080"/>
          </a:xfrm>
          <a:prstGeom prst="roundRect">
            <a:avLst>
              <a:gd name="adj" fmla="val 12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0B2545"/>
                </a:solidFill>
                <a:latin typeface="Segoe UI"/>
              </a:rPr>
              <a:t>A tax-advantaged “bucket” for income you can access in retirement</a:t>
            </a:r>
          </a:p>
        </p:txBody>
      </p:sp>
      <p:sp>
        <p:nvSpPr>
          <p:cNvPr id="8" name="TextBox 7"/>
          <p:cNvSpPr txBox="1"/>
          <p:nvPr/>
        </p:nvSpPr>
        <p:spPr>
          <a:xfrm>
            <a:off x="548640" y="3246120"/>
            <a:ext cx="6583680" cy="2468880"/>
          </a:xfrm>
          <a:prstGeom prst="rect">
            <a:avLst/>
          </a:prstGeom>
          <a:noFill/>
        </p:spPr>
        <p:txBody>
          <a:bodyPr wrap="square">
            <a:spAutoFit/>
          </a:bodyPr>
          <a:lstStyle/>
          <a:p>
            <a:pPr>
              <a:lnSpc>
                <a:spcPct val="105000"/>
              </a:lnSpc>
              <a:spcAft>
                <a:spcPts val="1200"/>
              </a:spcAft>
            </a:pPr>
            <a:r>
              <a:rPr sz="1550" b="1">
                <a:solidFill>
                  <a:srgbClr val="C9A227"/>
                </a:solidFill>
                <a:latin typeface="Segoe UI"/>
              </a:rPr>
              <a:t>▪  </a:t>
            </a:r>
            <a:r>
              <a:rPr sz="1550">
                <a:solidFill>
                  <a:srgbClr val="1A2433"/>
                </a:solidFill>
                <a:latin typeface="Segoe UI"/>
              </a:rPr>
              <a:t>Overfund a policy during working years; cash value grows tax-deferred.</a:t>
            </a:r>
          </a:p>
          <a:p>
            <a:pPr>
              <a:lnSpc>
                <a:spcPct val="105000"/>
              </a:lnSpc>
              <a:spcAft>
                <a:spcPts val="1200"/>
              </a:spcAft>
            </a:pPr>
            <a:r>
              <a:rPr sz="1550" b="1">
                <a:solidFill>
                  <a:srgbClr val="C9A227"/>
                </a:solidFill>
                <a:latin typeface="Segoe UI"/>
              </a:rPr>
              <a:t>▪  </a:t>
            </a:r>
            <a:r>
              <a:rPr sz="1550">
                <a:solidFill>
                  <a:srgbClr val="1A2433"/>
                </a:solidFill>
                <a:latin typeface="Segoe UI"/>
              </a:rPr>
              <a:t>In retirement, you may access it through policy loans that can be income-tax-free if structured properly.</a:t>
            </a:r>
          </a:p>
          <a:p>
            <a:pPr>
              <a:lnSpc>
                <a:spcPct val="105000"/>
              </a:lnSpc>
              <a:spcAft>
                <a:spcPts val="1200"/>
              </a:spcAft>
            </a:pPr>
            <a:r>
              <a:rPr sz="1550" b="1">
                <a:solidFill>
                  <a:srgbClr val="C9A227"/>
                </a:solidFill>
                <a:latin typeface="Segoe UI"/>
              </a:rPr>
              <a:t>▪  </a:t>
            </a:r>
            <a:r>
              <a:rPr sz="1550">
                <a:solidFill>
                  <a:srgbClr val="1A2433"/>
                </a:solidFill>
                <a:latin typeface="Segoe UI"/>
              </a:rPr>
              <a:t>No IRS income limits like a Roth, and built-in protection from market downturns (0% floor).</a:t>
            </a:r>
          </a:p>
        </p:txBody>
      </p:sp>
      <p:sp>
        <p:nvSpPr>
          <p:cNvPr id="9" name="TextBox 8"/>
          <p:cNvSpPr txBox="1"/>
          <p:nvPr/>
        </p:nvSpPr>
        <p:spPr>
          <a:xfrm>
            <a:off x="7315200" y="2743200"/>
            <a:ext cx="4297680" cy="320040"/>
          </a:xfrm>
          <a:prstGeom prst="rect">
            <a:avLst/>
          </a:prstGeom>
          <a:noFill/>
        </p:spPr>
        <p:txBody>
          <a:bodyPr wrap="square" anchor="t">
            <a:spAutoFit/>
          </a:bodyPr>
          <a:lstStyle/>
          <a:p>
            <a:pPr algn="l">
              <a:lnSpc>
                <a:spcPct val="104000"/>
              </a:lnSpc>
              <a:spcAft>
                <a:spcPts val="0"/>
              </a:spcAft>
            </a:pPr>
            <a:r>
              <a:rPr sz="1200" b="1">
                <a:solidFill>
                  <a:srgbClr val="C9A227"/>
                </a:solidFill>
                <a:latin typeface="Segoe UI Semibold"/>
              </a:rPr>
              <a:t>YOUR THREE RETIREMENT BUCKETS</a:t>
            </a:r>
          </a:p>
        </p:txBody>
      </p:sp>
      <p:sp>
        <p:nvSpPr>
          <p:cNvPr id="10" name="Rounded Rectangle 9"/>
          <p:cNvSpPr/>
          <p:nvPr/>
        </p:nvSpPr>
        <p:spPr>
          <a:xfrm>
            <a:off x="7315200" y="3200400"/>
            <a:ext cx="4297680" cy="658368"/>
          </a:xfrm>
          <a:prstGeom prst="roundRect">
            <a:avLst>
              <a:gd name="adj" fmla="val 10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6B7280"/>
                </a:solidFill>
                <a:latin typeface="Segoe UI"/>
              </a:rPr>
              <a:t>TAXABLE</a:t>
            </a:r>
          </a:p>
          <a:p>
            <a:pPr algn="ctr">
              <a:lnSpc>
                <a:spcPct val="100000"/>
              </a:lnSpc>
              <a:spcBef>
                <a:spcPts val="400"/>
              </a:spcBef>
            </a:pPr>
            <a:r>
              <a:rPr sz="1000">
                <a:solidFill>
                  <a:srgbClr val="6B7280"/>
                </a:solidFill>
                <a:latin typeface="Segoe UI"/>
              </a:rPr>
              <a:t>Taxed as you go</a:t>
            </a:r>
          </a:p>
        </p:txBody>
      </p:sp>
      <p:sp>
        <p:nvSpPr>
          <p:cNvPr id="11" name="Rounded Rectangle 10"/>
          <p:cNvSpPr/>
          <p:nvPr/>
        </p:nvSpPr>
        <p:spPr>
          <a:xfrm>
            <a:off x="7315200" y="3977639"/>
            <a:ext cx="4297680" cy="658368"/>
          </a:xfrm>
          <a:prstGeom prst="roundRect">
            <a:avLst>
              <a:gd name="adj" fmla="val 10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6B7280"/>
                </a:solidFill>
                <a:latin typeface="Segoe UI"/>
              </a:rPr>
              <a:t>TAX-DEFERRED</a:t>
            </a:r>
          </a:p>
          <a:p>
            <a:pPr algn="ctr">
              <a:lnSpc>
                <a:spcPct val="100000"/>
              </a:lnSpc>
              <a:spcBef>
                <a:spcPts val="400"/>
              </a:spcBef>
            </a:pPr>
            <a:r>
              <a:rPr sz="1000">
                <a:solidFill>
                  <a:srgbClr val="6B7280"/>
                </a:solidFill>
                <a:latin typeface="Segoe UI"/>
              </a:rPr>
              <a:t>401(k)/IRA — taxed later</a:t>
            </a:r>
          </a:p>
        </p:txBody>
      </p:sp>
      <p:sp>
        <p:nvSpPr>
          <p:cNvPr id="12" name="Rounded Rectangle 11"/>
          <p:cNvSpPr/>
          <p:nvPr/>
        </p:nvSpPr>
        <p:spPr>
          <a:xfrm>
            <a:off x="7315200" y="4754880"/>
            <a:ext cx="4297680" cy="658368"/>
          </a:xfrm>
          <a:prstGeom prst="roundRect">
            <a:avLst>
              <a:gd name="adj" fmla="val 1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0B2545"/>
                </a:solidFill>
                <a:latin typeface="Segoe UI"/>
              </a:rPr>
              <a:t>TAX-FREE</a:t>
            </a:r>
          </a:p>
          <a:p>
            <a:pPr algn="ctr">
              <a:lnSpc>
                <a:spcPct val="100000"/>
              </a:lnSpc>
              <a:spcBef>
                <a:spcPts val="400"/>
              </a:spcBef>
            </a:pPr>
            <a:r>
              <a:rPr sz="1000">
                <a:solidFill>
                  <a:srgbClr val="0B2545"/>
                </a:solidFill>
                <a:latin typeface="Segoe UI"/>
              </a:rPr>
              <a:t>Roth &amp; life insurance</a:t>
            </a:r>
          </a:p>
        </p:txBody>
      </p:sp>
      <p:sp>
        <p:nvSpPr>
          <p:cNvPr id="13" name="TextBox 12"/>
          <p:cNvSpPr txBox="1"/>
          <p:nvPr/>
        </p:nvSpPr>
        <p:spPr>
          <a:xfrm>
            <a:off x="548640" y="5486400"/>
            <a:ext cx="6400800" cy="548640"/>
          </a:xfrm>
          <a:prstGeom prst="rect">
            <a:avLst/>
          </a:prstGeom>
          <a:noFill/>
        </p:spPr>
        <p:txBody>
          <a:bodyPr wrap="square" anchor="t">
            <a:spAutoFit/>
          </a:bodyPr>
          <a:lstStyle/>
          <a:p>
            <a:pPr algn="l">
              <a:lnSpc>
                <a:spcPct val="110000"/>
              </a:lnSpc>
              <a:spcAft>
                <a:spcPts val="0"/>
              </a:spcAft>
            </a:pPr>
            <a:r>
              <a:rPr sz="1350" b="0">
                <a:solidFill>
                  <a:srgbClr val="6B7280"/>
                </a:solidFill>
                <a:latin typeface="Segoe UI"/>
              </a:rPr>
              <a:t>Most families have the least money in the tax-free bucket — that’s the gap we help fill.</a:t>
            </a:r>
          </a:p>
        </p:txBody>
      </p:sp>
      <p:sp>
        <p:nvSpPr>
          <p:cNvPr id="14" name="TextBox 13"/>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5" name="TextBox 14"/>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FFFFFF"/>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C9D2DE"/>
                </a:solidFill>
                <a:latin typeface="Segoe UI Semibold"/>
              </a:rPr>
              <a:t>CONCEPT 6 / 8</a:t>
            </a:r>
          </a:p>
        </p:txBody>
      </p:sp>
      <p:sp>
        <p:nvSpPr>
          <p:cNvPr id="5" name="TextBox 4"/>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LIVING BENEFITS</a:t>
            </a:r>
          </a:p>
        </p:txBody>
      </p:sp>
      <p:sp>
        <p:nvSpPr>
          <p:cNvPr id="6" name="Rectangle 5"/>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00784"/>
            <a:ext cx="11155680" cy="822960"/>
          </a:xfrm>
          <a:prstGeom prst="rect">
            <a:avLst/>
          </a:prstGeom>
          <a:noFill/>
        </p:spPr>
        <p:txBody>
          <a:bodyPr wrap="square" anchor="t">
            <a:spAutoFit/>
          </a:bodyPr>
          <a:lstStyle/>
          <a:p>
            <a:pPr algn="l">
              <a:lnSpc>
                <a:spcPct val="104000"/>
              </a:lnSpc>
              <a:spcAft>
                <a:spcPts val="0"/>
              </a:spcAft>
            </a:pPr>
            <a:r>
              <a:rPr sz="2900" b="1">
                <a:solidFill>
                  <a:srgbClr val="FFFFFF"/>
                </a:solidFill>
                <a:latin typeface="Segoe UI Semibold"/>
              </a:rPr>
              <a:t>Coverage that works while you’re still living</a:t>
            </a:r>
          </a:p>
        </p:txBody>
      </p:sp>
      <p:sp>
        <p:nvSpPr>
          <p:cNvPr id="8" name="TextBox 7"/>
          <p:cNvSpPr txBox="1"/>
          <p:nvPr/>
        </p:nvSpPr>
        <p:spPr>
          <a:xfrm>
            <a:off x="548640" y="2697480"/>
            <a:ext cx="6766560" cy="2103120"/>
          </a:xfrm>
          <a:prstGeom prst="rect">
            <a:avLst/>
          </a:prstGeom>
          <a:noFill/>
        </p:spPr>
        <p:txBody>
          <a:bodyPr wrap="square">
            <a:spAutoFit/>
          </a:bodyPr>
          <a:lstStyle/>
          <a:p>
            <a:pPr>
              <a:lnSpc>
                <a:spcPct val="105000"/>
              </a:lnSpc>
              <a:spcAft>
                <a:spcPts val="1300"/>
              </a:spcAft>
            </a:pPr>
            <a:r>
              <a:rPr sz="1700" b="1">
                <a:solidFill>
                  <a:srgbClr val="C9A227"/>
                </a:solidFill>
                <a:latin typeface="Segoe UI"/>
              </a:rPr>
              <a:t>▪  </a:t>
            </a:r>
            <a:r>
              <a:rPr sz="1700">
                <a:solidFill>
                  <a:srgbClr val="FFFFFF"/>
                </a:solidFill>
                <a:latin typeface="Segoe UI"/>
              </a:rPr>
              <a:t>A qualifying illness may let you access part of your death benefit early — while you need it most.</a:t>
            </a:r>
          </a:p>
          <a:p>
            <a:pPr>
              <a:lnSpc>
                <a:spcPct val="105000"/>
              </a:lnSpc>
              <a:spcAft>
                <a:spcPts val="1300"/>
              </a:spcAft>
            </a:pPr>
            <a:r>
              <a:rPr sz="1700" b="1">
                <a:solidFill>
                  <a:srgbClr val="C9A227"/>
                </a:solidFill>
                <a:latin typeface="Segoe UI"/>
              </a:rPr>
              <a:t>▪  </a:t>
            </a:r>
            <a:r>
              <a:rPr sz="1700">
                <a:solidFill>
                  <a:srgbClr val="FFFFFF"/>
                </a:solidFill>
                <a:latin typeface="Segoe UI"/>
              </a:rPr>
              <a:t>The money can help with medical bills, lost income, treatment, or simply breathing room.</a:t>
            </a:r>
          </a:p>
          <a:p>
            <a:pPr>
              <a:lnSpc>
                <a:spcPct val="105000"/>
              </a:lnSpc>
              <a:spcAft>
                <a:spcPts val="1300"/>
              </a:spcAft>
            </a:pPr>
            <a:r>
              <a:rPr sz="1700" b="1">
                <a:solidFill>
                  <a:srgbClr val="C9A227"/>
                </a:solidFill>
                <a:latin typeface="Segoe UI"/>
              </a:rPr>
              <a:t>▪  </a:t>
            </a:r>
            <a:r>
              <a:rPr sz="1700">
                <a:solidFill>
                  <a:srgbClr val="FFFFFF"/>
                </a:solidFill>
                <a:latin typeface="Segoe UI"/>
              </a:rPr>
              <a:t>Most term and ‘mortgage insurance’ competitors only pay at death. This can pay you now.</a:t>
            </a:r>
          </a:p>
        </p:txBody>
      </p:sp>
      <p:sp>
        <p:nvSpPr>
          <p:cNvPr id="9" name="Rounded Rectangle 8"/>
          <p:cNvSpPr/>
          <p:nvPr/>
        </p:nvSpPr>
        <p:spPr>
          <a:xfrm>
            <a:off x="7680960" y="2606040"/>
            <a:ext cx="3977639" cy="3246120"/>
          </a:xfrm>
          <a:prstGeom prst="roundRect">
            <a:avLst>
              <a:gd name="adj" fmla="val 5000"/>
            </a:avLst>
          </a:prstGeom>
          <a:solidFill>
            <a:srgbClr val="14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2788920"/>
            <a:ext cx="3566160" cy="365760"/>
          </a:xfrm>
          <a:prstGeom prst="rect">
            <a:avLst/>
          </a:prstGeom>
          <a:noFill/>
        </p:spPr>
        <p:txBody>
          <a:bodyPr wrap="square" anchor="t">
            <a:spAutoFit/>
          </a:bodyPr>
          <a:lstStyle/>
          <a:p>
            <a:pPr algn="ctr">
              <a:lnSpc>
                <a:spcPct val="104000"/>
              </a:lnSpc>
              <a:spcAft>
                <a:spcPts val="0"/>
              </a:spcAft>
            </a:pPr>
            <a:r>
              <a:rPr sz="1100" b="1">
                <a:solidFill>
                  <a:srgbClr val="C9A227"/>
                </a:solidFill>
                <a:latin typeface="Segoe UI Semibold"/>
              </a:rPr>
              <a:t>MAY COVER EVENTS LIKE</a:t>
            </a:r>
          </a:p>
        </p:txBody>
      </p:sp>
      <p:sp>
        <p:nvSpPr>
          <p:cNvPr id="11" name="TextBox 10"/>
          <p:cNvSpPr txBox="1"/>
          <p:nvPr/>
        </p:nvSpPr>
        <p:spPr>
          <a:xfrm>
            <a:off x="7909560" y="3200400"/>
            <a:ext cx="3566160" cy="2560320"/>
          </a:xfrm>
          <a:prstGeom prst="rect">
            <a:avLst/>
          </a:prstGeom>
          <a:noFill/>
        </p:spPr>
        <p:txBody>
          <a:bodyPr wrap="square" anchor="t">
            <a:spAutoFit/>
          </a:bodyPr>
          <a:lstStyle/>
          <a:p>
            <a:pPr algn="ctr">
              <a:lnSpc>
                <a:spcPct val="145000"/>
              </a:lnSpc>
              <a:spcAft>
                <a:spcPts val="0"/>
              </a:spcAft>
            </a:pPr>
            <a:r>
              <a:rPr sz="1600" b="1">
                <a:solidFill>
                  <a:srgbClr val="FFFFFF"/>
                </a:solidFill>
                <a:latin typeface="Segoe UI"/>
              </a:rPr>
              <a:t>Terminal illness</a:t>
            </a:r>
          </a:p>
          <a:p>
            <a:pPr algn="ctr">
              <a:lnSpc>
                <a:spcPct val="145000"/>
              </a:lnSpc>
              <a:spcAft>
                <a:spcPts val="0"/>
              </a:spcAft>
            </a:pPr>
            <a:r>
              <a:rPr sz="1600" b="1">
                <a:solidFill>
                  <a:srgbClr val="FFFFFF"/>
                </a:solidFill>
                <a:latin typeface="Segoe UI"/>
              </a:rPr>
              <a:t>Chronic illness</a:t>
            </a:r>
          </a:p>
          <a:p>
            <a:pPr algn="ctr">
              <a:lnSpc>
                <a:spcPct val="145000"/>
              </a:lnSpc>
              <a:spcAft>
                <a:spcPts val="0"/>
              </a:spcAft>
            </a:pPr>
            <a:r>
              <a:rPr sz="1600" b="1">
                <a:solidFill>
                  <a:srgbClr val="FFFFFF"/>
                </a:solidFill>
                <a:latin typeface="Segoe UI"/>
              </a:rPr>
              <a:t>Critical illness</a:t>
            </a:r>
          </a:p>
          <a:p>
            <a:pPr algn="ctr">
              <a:lnSpc>
                <a:spcPct val="145000"/>
              </a:lnSpc>
              <a:spcAft>
                <a:spcPts val="0"/>
              </a:spcAft>
            </a:pPr>
            <a:r>
              <a:rPr sz="1600" b="1">
                <a:solidFill>
                  <a:srgbClr val="FFFFFF"/>
                </a:solidFill>
                <a:latin typeface="Segoe UI"/>
              </a:rPr>
              <a:t>Critical injury</a:t>
            </a:r>
          </a:p>
          <a:p>
            <a:pPr algn="ctr">
              <a:lnSpc>
                <a:spcPct val="145000"/>
              </a:lnSpc>
              <a:spcAft>
                <a:spcPts val="0"/>
              </a:spcAft>
            </a:pPr>
            <a:r>
              <a:rPr sz="1600" b="1">
                <a:solidFill>
                  <a:srgbClr val="FFFFFF"/>
                </a:solidFill>
                <a:latin typeface="Segoe UI"/>
              </a:rPr>
              <a:t>Alzheimer’s disease</a:t>
            </a:r>
          </a:p>
        </p:txBody>
      </p:sp>
      <p:sp>
        <p:nvSpPr>
          <p:cNvPr id="12" name="TextBox 11"/>
          <p:cNvSpPr txBox="1"/>
          <p:nvPr/>
        </p:nvSpPr>
        <p:spPr>
          <a:xfrm>
            <a:off x="548640" y="5943600"/>
            <a:ext cx="11064240" cy="457200"/>
          </a:xfrm>
          <a:prstGeom prst="rect">
            <a:avLst/>
          </a:prstGeom>
          <a:noFill/>
        </p:spPr>
        <p:txBody>
          <a:bodyPr wrap="square" anchor="t">
            <a:spAutoFit/>
          </a:bodyPr>
          <a:lstStyle/>
          <a:p>
            <a:pPr algn="l">
              <a:lnSpc>
                <a:spcPct val="105000"/>
              </a:lnSpc>
              <a:spcAft>
                <a:spcPts val="0"/>
              </a:spcAft>
            </a:pPr>
            <a:r>
              <a:rPr sz="950" b="0">
                <a:solidFill>
                  <a:srgbClr val="B8C4D4"/>
                </a:solidFill>
                <a:latin typeface="Segoe UI"/>
              </a:rPr>
              <a:t>Living Benefits are provided through optional Accelerated Benefit Riders, available on certain products and not in all states. Using them reduces the policy’s death benefit and cash value and may be a taxable event.</a:t>
            </a:r>
          </a:p>
        </p:txBody>
      </p:sp>
      <p:sp>
        <p:nvSpPr>
          <p:cNvPr id="13" name="TextBox 12"/>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C9D2DE"/>
                </a:solidFill>
                <a:latin typeface="Segoe UI"/>
              </a:rPr>
              <a:t>Goodwill Financial · Living Benefits Team    |    Educational use only — not financial, tax, or legal advice</a:t>
            </a:r>
          </a:p>
        </p:txBody>
      </p:sp>
      <p:sp>
        <p:nvSpPr>
          <p:cNvPr id="14" name="TextBox 13"/>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C9D2DE"/>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7 / 8</a:t>
            </a:r>
          </a:p>
        </p:txBody>
      </p:sp>
      <p:sp>
        <p:nvSpPr>
          <p:cNvPr id="5" name="Rectangle 4"/>
          <p:cNvSpPr/>
          <p:nvPr/>
        </p:nvSpPr>
        <p:spPr>
          <a:xfrm>
            <a:off x="521207" y="1371600"/>
            <a:ext cx="566928" cy="5029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Business Owner Solutions</a:t>
            </a:r>
          </a:p>
        </p:txBody>
      </p:sp>
      <p:sp>
        <p:nvSpPr>
          <p:cNvPr id="7" name="Rounded Rectangle 6"/>
          <p:cNvSpPr/>
          <p:nvPr/>
        </p:nvSpPr>
        <p:spPr>
          <a:xfrm>
            <a:off x="548640" y="2487168"/>
            <a:ext cx="11091672" cy="640080"/>
          </a:xfrm>
          <a:prstGeom prst="roundRect">
            <a:avLst>
              <a:gd name="adj" fmla="val 12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Protect the business, the owner, and the family — with company dollars.</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0B2545"/>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Life-insurance-based strategies that protect the business and its owners: key person, buy-sell funding, executive bonus, and business-debt protection.</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0B2545"/>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Owners with partners, key employees, personally-guaranteed debt, or a succession plan to fund.</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0B2545"/>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If an owner or key person dies or becomes ill, the business can keep running, partners can buy out shares, and the family is protected.</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10058400" y="310896"/>
            <a:ext cx="1645920" cy="365760"/>
          </a:xfrm>
          <a:prstGeom prst="rect">
            <a:avLst/>
          </a:prstGeom>
          <a:noFill/>
        </p:spPr>
        <p:txBody>
          <a:bodyPr wrap="square" anchor="t">
            <a:spAutoFit/>
          </a:bodyPr>
          <a:lstStyle/>
          <a:p>
            <a:pPr algn="r">
              <a:lnSpc>
                <a:spcPct val="104000"/>
              </a:lnSpc>
              <a:spcAft>
                <a:spcPts val="0"/>
              </a:spcAft>
            </a:pPr>
            <a:r>
              <a:rPr sz="1100" b="1">
                <a:solidFill>
                  <a:srgbClr val="6B7280"/>
                </a:solidFill>
                <a:latin typeface="Segoe UI Semibold"/>
              </a:rPr>
              <a:t>CONCEPT 8 / 8</a:t>
            </a:r>
          </a:p>
        </p:txBody>
      </p:sp>
      <p:sp>
        <p:nvSpPr>
          <p:cNvPr id="5" name="Rectangle 4"/>
          <p:cNvSpPr/>
          <p:nvPr/>
        </p:nvSpPr>
        <p:spPr>
          <a:xfrm>
            <a:off x="521207" y="1371600"/>
            <a:ext cx="566928" cy="50292"/>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8686800" cy="822960"/>
          </a:xfrm>
          <a:prstGeom prst="rect">
            <a:avLst/>
          </a:prstGeom>
          <a:noFill/>
        </p:spPr>
        <p:txBody>
          <a:bodyPr wrap="square" anchor="t">
            <a:spAutoFit/>
          </a:bodyPr>
          <a:lstStyle/>
          <a:p>
            <a:pPr algn="l">
              <a:lnSpc>
                <a:spcPct val="104000"/>
              </a:lnSpc>
              <a:spcAft>
                <a:spcPts val="0"/>
              </a:spcAft>
            </a:pPr>
            <a:r>
              <a:rPr sz="2900" b="1">
                <a:solidFill>
                  <a:srgbClr val="0B2545"/>
                </a:solidFill>
                <a:latin typeface="Segoe UI Semibold"/>
              </a:rPr>
              <a:t>Annuities &amp; Retirement Rollovers</a:t>
            </a:r>
          </a:p>
        </p:txBody>
      </p:sp>
      <p:sp>
        <p:nvSpPr>
          <p:cNvPr id="7" name="Rounded Rectangle 6"/>
          <p:cNvSpPr/>
          <p:nvPr/>
        </p:nvSpPr>
        <p:spPr>
          <a:xfrm>
            <a:off x="548640" y="2487168"/>
            <a:ext cx="11091672" cy="640080"/>
          </a:xfrm>
          <a:prstGeom prst="roundRect">
            <a:avLst>
              <a:gd name="adj" fmla="val 12000"/>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a:solidFill>
                  <a:srgbClr val="FFFFFF"/>
                </a:solidFill>
                <a:latin typeface="Segoe UI"/>
              </a:rPr>
              <a:t>Turn savings into income you can’t outlive.</a:t>
            </a:r>
          </a:p>
        </p:txBody>
      </p:sp>
      <p:sp>
        <p:nvSpPr>
          <p:cNvPr id="8" name="Rounded Rectangle 7"/>
          <p:cNvSpPr/>
          <p:nvPr/>
        </p:nvSpPr>
        <p:spPr>
          <a:xfrm>
            <a:off x="548640"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WHAT IT IS</a:t>
            </a:r>
          </a:p>
        </p:txBody>
      </p:sp>
      <p:sp>
        <p:nvSpPr>
          <p:cNvPr id="11" name="TextBox 10"/>
          <p:cNvSpPr txBox="1"/>
          <p:nvPr/>
        </p:nvSpPr>
        <p:spPr>
          <a:xfrm>
            <a:off x="749808"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Fixed and fixed-indexed annuities that protect savings from market loss and can turn a lump sum (or an old 401(k)/IRA) into guaranteed lifetime income.</a:t>
            </a:r>
          </a:p>
        </p:txBody>
      </p:sp>
      <p:sp>
        <p:nvSpPr>
          <p:cNvPr id="12" name="Rounded Rectangle 11"/>
          <p:cNvSpPr/>
          <p:nvPr/>
        </p:nvSpPr>
        <p:spPr>
          <a:xfrm>
            <a:off x="4322064"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2064"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3232"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BEST FOR</a:t>
            </a:r>
          </a:p>
        </p:txBody>
      </p:sp>
      <p:sp>
        <p:nvSpPr>
          <p:cNvPr id="15" name="TextBox 14"/>
          <p:cNvSpPr txBox="1"/>
          <p:nvPr/>
        </p:nvSpPr>
        <p:spPr>
          <a:xfrm>
            <a:off x="4523232"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People near or in retirement who want stability and income they can’t outlive.</a:t>
            </a:r>
          </a:p>
        </p:txBody>
      </p:sp>
      <p:sp>
        <p:nvSpPr>
          <p:cNvPr id="16" name="Rounded Rectangle 15"/>
          <p:cNvSpPr/>
          <p:nvPr/>
        </p:nvSpPr>
        <p:spPr>
          <a:xfrm>
            <a:off x="8095488" y="3429000"/>
            <a:ext cx="3544824" cy="2331720"/>
          </a:xfrm>
          <a:prstGeom prst="roundRect">
            <a:avLst>
              <a:gd name="adj" fmla="val 5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5488" y="3429000"/>
            <a:ext cx="3544824" cy="9144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6656" y="3630168"/>
            <a:ext cx="3179064" cy="365760"/>
          </a:xfrm>
          <a:prstGeom prst="rect">
            <a:avLst/>
          </a:prstGeom>
          <a:noFill/>
        </p:spPr>
        <p:txBody>
          <a:bodyPr wrap="square" anchor="t">
            <a:spAutoFit/>
          </a:bodyPr>
          <a:lstStyle/>
          <a:p>
            <a:pPr algn="l">
              <a:lnSpc>
                <a:spcPct val="104000"/>
              </a:lnSpc>
              <a:spcAft>
                <a:spcPts val="0"/>
              </a:spcAft>
            </a:pPr>
            <a:r>
              <a:rPr sz="1200" b="1">
                <a:solidFill>
                  <a:srgbClr val="2A6F97"/>
                </a:solidFill>
                <a:latin typeface="Segoe UI Semibold"/>
              </a:rPr>
              <a:t>WHY IT MATTERS</a:t>
            </a:r>
          </a:p>
        </p:txBody>
      </p:sp>
      <p:sp>
        <p:nvSpPr>
          <p:cNvPr id="19" name="TextBox 18"/>
          <p:cNvSpPr txBox="1"/>
          <p:nvPr/>
        </p:nvSpPr>
        <p:spPr>
          <a:xfrm>
            <a:off x="8296656" y="4087368"/>
            <a:ext cx="3142488" cy="1554480"/>
          </a:xfrm>
          <a:prstGeom prst="rect">
            <a:avLst/>
          </a:prstGeom>
          <a:noFill/>
        </p:spPr>
        <p:txBody>
          <a:bodyPr wrap="square" anchor="t">
            <a:spAutoFit/>
          </a:bodyPr>
          <a:lstStyle/>
          <a:p>
            <a:pPr algn="l">
              <a:lnSpc>
                <a:spcPct val="114000"/>
              </a:lnSpc>
              <a:spcAft>
                <a:spcPts val="0"/>
              </a:spcAft>
            </a:pPr>
            <a:r>
              <a:rPr sz="1350" b="0">
                <a:solidFill>
                  <a:srgbClr val="1A2433"/>
                </a:solidFill>
                <a:latin typeface="Segoe UI"/>
              </a:rPr>
              <a:t>Protection from market downturns plus an optional guaranteed income stream for life — peace of mind in retirement.</a:t>
            </a:r>
          </a:p>
        </p:txBody>
      </p:sp>
      <p:sp>
        <p:nvSpPr>
          <p:cNvPr id="20" name="TextBox 1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1" name="TextBox 2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IT ALL COMES BACK TO TWO JOBS</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Protect today. Prepare for tomorrow.</a:t>
            </a:r>
          </a:p>
        </p:txBody>
      </p:sp>
      <p:sp>
        <p:nvSpPr>
          <p:cNvPr id="7" name="Rounded Rectangle 6"/>
          <p:cNvSpPr/>
          <p:nvPr/>
        </p:nvSpPr>
        <p:spPr>
          <a:xfrm>
            <a:off x="548640" y="2834640"/>
            <a:ext cx="5349240" cy="2194560"/>
          </a:xfrm>
          <a:prstGeom prst="roundRect">
            <a:avLst>
              <a:gd name="adj" fmla="val 5000"/>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FFFFFF"/>
                </a:solidFill>
                <a:latin typeface="Segoe UI"/>
              </a:rPr>
              <a:t>PROTECT TODAY</a:t>
            </a:r>
          </a:p>
          <a:p>
            <a:pPr algn="ctr">
              <a:lnSpc>
                <a:spcPct val="100000"/>
              </a:lnSpc>
              <a:spcBef>
                <a:spcPts val="400"/>
              </a:spcBef>
            </a:pPr>
            <a:r>
              <a:rPr sz="1400">
                <a:solidFill>
                  <a:srgbClr val="FFFFFF"/>
                </a:solidFill>
                <a:latin typeface="Segoe UI"/>
              </a:rPr>
              <a:t>Mortgage covered · family stays in the home · income protected if you die or become seriously ill.</a:t>
            </a:r>
          </a:p>
        </p:txBody>
      </p:sp>
      <p:sp>
        <p:nvSpPr>
          <p:cNvPr id="8" name="Rounded Rectangle 7"/>
          <p:cNvSpPr/>
          <p:nvPr/>
        </p:nvSpPr>
        <p:spPr>
          <a:xfrm>
            <a:off x="6309360" y="2834640"/>
            <a:ext cx="5349240" cy="2194560"/>
          </a:xfrm>
          <a:prstGeom prst="roundRect">
            <a:avLst>
              <a:gd name="adj" fmla="val 5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900" b="1">
                <a:solidFill>
                  <a:srgbClr val="0B2545"/>
                </a:solidFill>
                <a:latin typeface="Segoe UI"/>
              </a:rPr>
              <a:t>PREPARE FOR TOMORROW</a:t>
            </a:r>
          </a:p>
          <a:p>
            <a:pPr algn="ctr">
              <a:lnSpc>
                <a:spcPct val="100000"/>
              </a:lnSpc>
              <a:spcBef>
                <a:spcPts val="400"/>
              </a:spcBef>
            </a:pPr>
            <a:r>
              <a:rPr sz="1400">
                <a:solidFill>
                  <a:srgbClr val="0B2545"/>
                </a:solidFill>
                <a:latin typeface="Segoe UI"/>
              </a:rPr>
              <a:t>Cash value and annuities build a tax-advantaged stream of retirement income you can’t outlive.</a:t>
            </a:r>
          </a:p>
        </p:txBody>
      </p:sp>
      <p:sp>
        <p:nvSpPr>
          <p:cNvPr id="9" name="TextBox 8"/>
          <p:cNvSpPr txBox="1"/>
          <p:nvPr/>
        </p:nvSpPr>
        <p:spPr>
          <a:xfrm>
            <a:off x="548640" y="5349240"/>
            <a:ext cx="11064240" cy="548640"/>
          </a:xfrm>
          <a:prstGeom prst="rect">
            <a:avLst/>
          </a:prstGeom>
          <a:noFill/>
        </p:spPr>
        <p:txBody>
          <a:bodyPr wrap="square" anchor="t">
            <a:spAutoFit/>
          </a:bodyPr>
          <a:lstStyle/>
          <a:p>
            <a:pPr algn="ctr">
              <a:lnSpc>
                <a:spcPct val="104000"/>
              </a:lnSpc>
              <a:spcAft>
                <a:spcPts val="0"/>
              </a:spcAft>
            </a:pPr>
            <a:r>
              <a:rPr sz="1600" b="1">
                <a:solidFill>
                  <a:srgbClr val="0B2545"/>
                </a:solidFill>
                <a:latin typeface="Segoe UI Semibold"/>
              </a:rPr>
              <a:t>The right plan does both at once — that’s the Goodwill Way.</a:t>
            </a:r>
          </a:p>
        </p:txBody>
      </p:sp>
      <p:sp>
        <p:nvSpPr>
          <p:cNvPr id="10" name="TextBox 9"/>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11" name="TextBox 10"/>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207008"/>
            <a:ext cx="10972800" cy="320040"/>
          </a:xfrm>
          <a:prstGeom prst="rect">
            <a:avLst/>
          </a:prstGeom>
          <a:noFill/>
        </p:spPr>
        <p:txBody>
          <a:bodyPr wrap="square" anchor="t">
            <a:spAutoFit/>
          </a:bodyPr>
          <a:lstStyle/>
          <a:p>
            <a:pPr algn="l">
              <a:lnSpc>
                <a:spcPct val="104000"/>
              </a:lnSpc>
              <a:spcAft>
                <a:spcPts val="0"/>
              </a:spcAft>
            </a:pPr>
            <a:r>
              <a:rPr sz="1250" b="1">
                <a:solidFill>
                  <a:srgbClr val="C9A227"/>
                </a:solidFill>
                <a:latin typeface="Segoe UI Semibold"/>
              </a:rPr>
              <a:t>HOW IT WORKS</a:t>
            </a:r>
          </a:p>
        </p:txBody>
      </p:sp>
      <p:sp>
        <p:nvSpPr>
          <p:cNvPr id="5" name="Rectangle 4"/>
          <p:cNvSpPr/>
          <p:nvPr/>
        </p:nvSpPr>
        <p:spPr>
          <a:xfrm>
            <a:off x="521207" y="1591056"/>
            <a:ext cx="566928" cy="502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700784"/>
            <a:ext cx="11201400" cy="914400"/>
          </a:xfrm>
          <a:prstGeom prst="rect">
            <a:avLst/>
          </a:prstGeom>
          <a:noFill/>
        </p:spPr>
        <p:txBody>
          <a:bodyPr wrap="square" anchor="t">
            <a:spAutoFit/>
          </a:bodyPr>
          <a:lstStyle/>
          <a:p>
            <a:pPr algn="l">
              <a:lnSpc>
                <a:spcPct val="100000"/>
              </a:lnSpc>
              <a:spcAft>
                <a:spcPts val="0"/>
              </a:spcAft>
            </a:pPr>
            <a:r>
              <a:rPr sz="3000" b="1">
                <a:solidFill>
                  <a:srgbClr val="0B2545"/>
                </a:solidFill>
                <a:latin typeface="Segoe UI Semibold"/>
              </a:rPr>
              <a:t>Simple, no pressure, education first</a:t>
            </a:r>
          </a:p>
        </p:txBody>
      </p:sp>
      <p:sp>
        <p:nvSpPr>
          <p:cNvPr id="7" name="Rounded Rectangle 6"/>
          <p:cNvSpPr/>
          <p:nvPr/>
        </p:nvSpPr>
        <p:spPr>
          <a:xfrm>
            <a:off x="502920" y="2926080"/>
            <a:ext cx="2157984" cy="2834640"/>
          </a:xfrm>
          <a:prstGeom prst="roundRect">
            <a:avLst>
              <a:gd name="adj" fmla="val 6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97864" y="3200400"/>
            <a:ext cx="768096" cy="768096"/>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C9A227"/>
                </a:solidFill>
                <a:latin typeface="Segoe UI Semibold"/>
              </a:rPr>
              <a:t>1</a:t>
            </a:r>
          </a:p>
        </p:txBody>
      </p:sp>
      <p:sp>
        <p:nvSpPr>
          <p:cNvPr id="9" name="TextBox 8"/>
          <p:cNvSpPr txBox="1"/>
          <p:nvPr/>
        </p:nvSpPr>
        <p:spPr>
          <a:xfrm>
            <a:off x="612648" y="4160520"/>
            <a:ext cx="1938528" cy="640080"/>
          </a:xfrm>
          <a:prstGeom prst="rect">
            <a:avLst/>
          </a:prstGeom>
          <a:noFill/>
        </p:spPr>
        <p:txBody>
          <a:bodyPr wrap="square" anchor="t">
            <a:spAutoFit/>
          </a:bodyPr>
          <a:lstStyle/>
          <a:p>
            <a:pPr algn="ctr">
              <a:lnSpc>
                <a:spcPct val="100000"/>
              </a:lnSpc>
              <a:spcAft>
                <a:spcPts val="0"/>
              </a:spcAft>
            </a:pPr>
            <a:r>
              <a:rPr sz="1450" b="1">
                <a:solidFill>
                  <a:srgbClr val="0B2545"/>
                </a:solidFill>
                <a:latin typeface="Segoe UI Semibold"/>
              </a:rPr>
              <a:t>Quick needs review</a:t>
            </a:r>
          </a:p>
        </p:txBody>
      </p:sp>
      <p:sp>
        <p:nvSpPr>
          <p:cNvPr id="10" name="TextBox 9"/>
          <p:cNvSpPr txBox="1"/>
          <p:nvPr/>
        </p:nvSpPr>
        <p:spPr>
          <a:xfrm>
            <a:off x="640080" y="4800600"/>
            <a:ext cx="1883664" cy="914400"/>
          </a:xfrm>
          <a:prstGeom prst="rect">
            <a:avLst/>
          </a:prstGeom>
          <a:noFill/>
        </p:spPr>
        <p:txBody>
          <a:bodyPr wrap="square" anchor="t">
            <a:spAutoFit/>
          </a:bodyPr>
          <a:lstStyle/>
          <a:p>
            <a:pPr algn="ctr">
              <a:lnSpc>
                <a:spcPct val="108000"/>
              </a:lnSpc>
              <a:spcAft>
                <a:spcPts val="0"/>
              </a:spcAft>
            </a:pPr>
            <a:r>
              <a:rPr sz="1150" b="0">
                <a:solidFill>
                  <a:srgbClr val="6B7280"/>
                </a:solidFill>
                <a:latin typeface="Segoe UI"/>
              </a:rPr>
              <a:t>Your situation, goals &amp; budget — a short fact-finder.</a:t>
            </a:r>
          </a:p>
        </p:txBody>
      </p:sp>
      <p:sp>
        <p:nvSpPr>
          <p:cNvPr id="11" name="Rounded Rectangle 10"/>
          <p:cNvSpPr/>
          <p:nvPr/>
        </p:nvSpPr>
        <p:spPr>
          <a:xfrm>
            <a:off x="2770632" y="2926080"/>
            <a:ext cx="2157984" cy="2834640"/>
          </a:xfrm>
          <a:prstGeom prst="roundRect">
            <a:avLst>
              <a:gd name="adj" fmla="val 6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65576" y="3200400"/>
            <a:ext cx="768096" cy="768096"/>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C9A227"/>
                </a:solidFill>
                <a:latin typeface="Segoe UI Semibold"/>
              </a:rPr>
              <a:t>2</a:t>
            </a:r>
          </a:p>
        </p:txBody>
      </p:sp>
      <p:sp>
        <p:nvSpPr>
          <p:cNvPr id="13" name="TextBox 12"/>
          <p:cNvSpPr txBox="1"/>
          <p:nvPr/>
        </p:nvSpPr>
        <p:spPr>
          <a:xfrm>
            <a:off x="2880360" y="4160520"/>
            <a:ext cx="1938528" cy="640080"/>
          </a:xfrm>
          <a:prstGeom prst="rect">
            <a:avLst/>
          </a:prstGeom>
          <a:noFill/>
        </p:spPr>
        <p:txBody>
          <a:bodyPr wrap="square" anchor="t">
            <a:spAutoFit/>
          </a:bodyPr>
          <a:lstStyle/>
          <a:p>
            <a:pPr algn="ctr">
              <a:lnSpc>
                <a:spcPct val="100000"/>
              </a:lnSpc>
              <a:spcAft>
                <a:spcPts val="0"/>
              </a:spcAft>
            </a:pPr>
            <a:r>
              <a:rPr sz="1450" b="1">
                <a:solidFill>
                  <a:srgbClr val="0B2545"/>
                </a:solidFill>
                <a:latin typeface="Segoe UI Semibold"/>
              </a:rPr>
              <a:t>Personalized options</a:t>
            </a:r>
          </a:p>
        </p:txBody>
      </p:sp>
      <p:sp>
        <p:nvSpPr>
          <p:cNvPr id="14" name="TextBox 13"/>
          <p:cNvSpPr txBox="1"/>
          <p:nvPr/>
        </p:nvSpPr>
        <p:spPr>
          <a:xfrm>
            <a:off x="2907792" y="4800600"/>
            <a:ext cx="1883664" cy="914400"/>
          </a:xfrm>
          <a:prstGeom prst="rect">
            <a:avLst/>
          </a:prstGeom>
          <a:noFill/>
        </p:spPr>
        <p:txBody>
          <a:bodyPr wrap="square" anchor="t">
            <a:spAutoFit/>
          </a:bodyPr>
          <a:lstStyle/>
          <a:p>
            <a:pPr algn="ctr">
              <a:lnSpc>
                <a:spcPct val="108000"/>
              </a:lnSpc>
              <a:spcAft>
                <a:spcPts val="0"/>
              </a:spcAft>
            </a:pPr>
            <a:r>
              <a:rPr sz="1150" b="0">
                <a:solidFill>
                  <a:srgbClr val="6B7280"/>
                </a:solidFill>
                <a:latin typeface="Segoe UI"/>
              </a:rPr>
              <a:t>We shop carriers and prepare illustrations.</a:t>
            </a:r>
          </a:p>
        </p:txBody>
      </p:sp>
      <p:sp>
        <p:nvSpPr>
          <p:cNvPr id="15" name="Rounded Rectangle 14"/>
          <p:cNvSpPr/>
          <p:nvPr/>
        </p:nvSpPr>
        <p:spPr>
          <a:xfrm>
            <a:off x="5038344" y="2926080"/>
            <a:ext cx="2157984" cy="2834640"/>
          </a:xfrm>
          <a:prstGeom prst="roundRect">
            <a:avLst>
              <a:gd name="adj" fmla="val 6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733288" y="3200400"/>
            <a:ext cx="768096" cy="768096"/>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C9A227"/>
                </a:solidFill>
                <a:latin typeface="Segoe UI Semibold"/>
              </a:rPr>
              <a:t>3</a:t>
            </a:r>
          </a:p>
        </p:txBody>
      </p:sp>
      <p:sp>
        <p:nvSpPr>
          <p:cNvPr id="17" name="TextBox 16"/>
          <p:cNvSpPr txBox="1"/>
          <p:nvPr/>
        </p:nvSpPr>
        <p:spPr>
          <a:xfrm>
            <a:off x="5148072" y="4160520"/>
            <a:ext cx="1938528" cy="640080"/>
          </a:xfrm>
          <a:prstGeom prst="rect">
            <a:avLst/>
          </a:prstGeom>
          <a:noFill/>
        </p:spPr>
        <p:txBody>
          <a:bodyPr wrap="square" anchor="t">
            <a:spAutoFit/>
          </a:bodyPr>
          <a:lstStyle/>
          <a:p>
            <a:pPr algn="ctr">
              <a:lnSpc>
                <a:spcPct val="100000"/>
              </a:lnSpc>
              <a:spcAft>
                <a:spcPts val="0"/>
              </a:spcAft>
            </a:pPr>
            <a:r>
              <a:rPr sz="1450" b="1">
                <a:solidFill>
                  <a:srgbClr val="0B2545"/>
                </a:solidFill>
                <a:latin typeface="Segoe UI Semibold"/>
              </a:rPr>
              <a:t>You choose</a:t>
            </a:r>
          </a:p>
        </p:txBody>
      </p:sp>
      <p:sp>
        <p:nvSpPr>
          <p:cNvPr id="18" name="TextBox 17"/>
          <p:cNvSpPr txBox="1"/>
          <p:nvPr/>
        </p:nvSpPr>
        <p:spPr>
          <a:xfrm>
            <a:off x="5175504" y="4800600"/>
            <a:ext cx="1883664" cy="914400"/>
          </a:xfrm>
          <a:prstGeom prst="rect">
            <a:avLst/>
          </a:prstGeom>
          <a:noFill/>
        </p:spPr>
        <p:txBody>
          <a:bodyPr wrap="square" anchor="t">
            <a:spAutoFit/>
          </a:bodyPr>
          <a:lstStyle/>
          <a:p>
            <a:pPr algn="ctr">
              <a:lnSpc>
                <a:spcPct val="108000"/>
              </a:lnSpc>
              <a:spcAft>
                <a:spcPts val="0"/>
              </a:spcAft>
            </a:pPr>
            <a:r>
              <a:rPr sz="1150" b="0">
                <a:solidFill>
                  <a:srgbClr val="6B7280"/>
                </a:solidFill>
                <a:latin typeface="Segoe UI"/>
              </a:rPr>
              <a:t>Pick what fits — or nothing at all. No obligation.</a:t>
            </a:r>
          </a:p>
        </p:txBody>
      </p:sp>
      <p:sp>
        <p:nvSpPr>
          <p:cNvPr id="19" name="Rounded Rectangle 18"/>
          <p:cNvSpPr/>
          <p:nvPr/>
        </p:nvSpPr>
        <p:spPr>
          <a:xfrm>
            <a:off x="7306055" y="2926080"/>
            <a:ext cx="2157984" cy="2834640"/>
          </a:xfrm>
          <a:prstGeom prst="roundRect">
            <a:avLst>
              <a:gd name="adj" fmla="val 6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1000" y="3200400"/>
            <a:ext cx="768096" cy="768096"/>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C9A227"/>
                </a:solidFill>
                <a:latin typeface="Segoe UI Semibold"/>
              </a:rPr>
              <a:t>4</a:t>
            </a:r>
          </a:p>
        </p:txBody>
      </p:sp>
      <p:sp>
        <p:nvSpPr>
          <p:cNvPr id="21" name="TextBox 20"/>
          <p:cNvSpPr txBox="1"/>
          <p:nvPr/>
        </p:nvSpPr>
        <p:spPr>
          <a:xfrm>
            <a:off x="7415783" y="4160520"/>
            <a:ext cx="1938528" cy="640080"/>
          </a:xfrm>
          <a:prstGeom prst="rect">
            <a:avLst/>
          </a:prstGeom>
          <a:noFill/>
        </p:spPr>
        <p:txBody>
          <a:bodyPr wrap="square" anchor="t">
            <a:spAutoFit/>
          </a:bodyPr>
          <a:lstStyle/>
          <a:p>
            <a:pPr algn="ctr">
              <a:lnSpc>
                <a:spcPct val="100000"/>
              </a:lnSpc>
              <a:spcAft>
                <a:spcPts val="0"/>
              </a:spcAft>
            </a:pPr>
            <a:r>
              <a:rPr sz="1450" b="1">
                <a:solidFill>
                  <a:srgbClr val="0B2545"/>
                </a:solidFill>
                <a:latin typeface="Segoe UI Semibold"/>
              </a:rPr>
              <a:t>Easy application</a:t>
            </a:r>
          </a:p>
        </p:txBody>
      </p:sp>
      <p:sp>
        <p:nvSpPr>
          <p:cNvPr id="22" name="TextBox 21"/>
          <p:cNvSpPr txBox="1"/>
          <p:nvPr/>
        </p:nvSpPr>
        <p:spPr>
          <a:xfrm>
            <a:off x="7443215" y="4800600"/>
            <a:ext cx="1883664" cy="914400"/>
          </a:xfrm>
          <a:prstGeom prst="rect">
            <a:avLst/>
          </a:prstGeom>
          <a:noFill/>
        </p:spPr>
        <p:txBody>
          <a:bodyPr wrap="square" anchor="t">
            <a:spAutoFit/>
          </a:bodyPr>
          <a:lstStyle/>
          <a:p>
            <a:pPr algn="ctr">
              <a:lnSpc>
                <a:spcPct val="108000"/>
              </a:lnSpc>
              <a:spcAft>
                <a:spcPts val="0"/>
              </a:spcAft>
            </a:pPr>
            <a:r>
              <a:rPr sz="1150" b="0">
                <a:solidFill>
                  <a:srgbClr val="6B7280"/>
                </a:solidFill>
                <a:latin typeface="Segoe UI"/>
              </a:rPr>
              <a:t>Often completed online in one sitting.</a:t>
            </a:r>
          </a:p>
        </p:txBody>
      </p:sp>
      <p:sp>
        <p:nvSpPr>
          <p:cNvPr id="23" name="Rounded Rectangle 22"/>
          <p:cNvSpPr/>
          <p:nvPr/>
        </p:nvSpPr>
        <p:spPr>
          <a:xfrm>
            <a:off x="9573768" y="2926080"/>
            <a:ext cx="2157984" cy="2834640"/>
          </a:xfrm>
          <a:prstGeom prst="roundRect">
            <a:avLst>
              <a:gd name="adj" fmla="val 6000"/>
            </a:avLst>
          </a:prstGeom>
          <a:solidFill>
            <a:srgbClr val="F4F6FA"/>
          </a:solidFill>
          <a:ln w="12700">
            <a:solidFill>
              <a:srgbClr val="D8DF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68712" y="3200400"/>
            <a:ext cx="768096" cy="768096"/>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C9A227"/>
                </a:solidFill>
                <a:latin typeface="Segoe UI Semibold"/>
              </a:rPr>
              <a:t>5</a:t>
            </a:r>
          </a:p>
        </p:txBody>
      </p:sp>
      <p:sp>
        <p:nvSpPr>
          <p:cNvPr id="25" name="TextBox 24"/>
          <p:cNvSpPr txBox="1"/>
          <p:nvPr/>
        </p:nvSpPr>
        <p:spPr>
          <a:xfrm>
            <a:off x="9683496" y="4160520"/>
            <a:ext cx="1938528" cy="640080"/>
          </a:xfrm>
          <a:prstGeom prst="rect">
            <a:avLst/>
          </a:prstGeom>
          <a:noFill/>
        </p:spPr>
        <p:txBody>
          <a:bodyPr wrap="square" anchor="t">
            <a:spAutoFit/>
          </a:bodyPr>
          <a:lstStyle/>
          <a:p>
            <a:pPr algn="ctr">
              <a:lnSpc>
                <a:spcPct val="100000"/>
              </a:lnSpc>
              <a:spcAft>
                <a:spcPts val="0"/>
              </a:spcAft>
            </a:pPr>
            <a:r>
              <a:rPr sz="1450" b="1">
                <a:solidFill>
                  <a:srgbClr val="0B2545"/>
                </a:solidFill>
                <a:latin typeface="Segoe UI Semibold"/>
              </a:rPr>
              <a:t>Covered &amp; reviewed</a:t>
            </a:r>
          </a:p>
        </p:txBody>
      </p:sp>
      <p:sp>
        <p:nvSpPr>
          <p:cNvPr id="26" name="TextBox 25"/>
          <p:cNvSpPr txBox="1"/>
          <p:nvPr/>
        </p:nvSpPr>
        <p:spPr>
          <a:xfrm>
            <a:off x="9710928" y="4800600"/>
            <a:ext cx="1883664" cy="914400"/>
          </a:xfrm>
          <a:prstGeom prst="rect">
            <a:avLst/>
          </a:prstGeom>
          <a:noFill/>
        </p:spPr>
        <p:txBody>
          <a:bodyPr wrap="square" anchor="t">
            <a:spAutoFit/>
          </a:bodyPr>
          <a:lstStyle/>
          <a:p>
            <a:pPr algn="ctr">
              <a:lnSpc>
                <a:spcPct val="108000"/>
              </a:lnSpc>
              <a:spcAft>
                <a:spcPts val="0"/>
              </a:spcAft>
            </a:pPr>
            <a:r>
              <a:rPr sz="1150" b="0">
                <a:solidFill>
                  <a:srgbClr val="6B7280"/>
                </a:solidFill>
                <a:latin typeface="Segoe UI"/>
              </a:rPr>
              <a:t>Coverage in place; we review it with you each year.</a:t>
            </a:r>
          </a:p>
        </p:txBody>
      </p:sp>
      <p:sp>
        <p:nvSpPr>
          <p:cNvPr id="27" name="TextBox 26"/>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28" name="TextBox 27"/>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2545"/>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FFFFFF"/>
                </a:solidFill>
                <a:latin typeface="Segoe UI Semibold"/>
              </a:rPr>
              <a:t>GOODWILL FINANCIAL</a:t>
            </a:r>
          </a:p>
        </p:txBody>
      </p:sp>
      <p:sp>
        <p:nvSpPr>
          <p:cNvPr id="4" name="TextBox 3"/>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5" name="TextBox 4"/>
          <p:cNvSpPr txBox="1"/>
          <p:nvPr/>
        </p:nvSpPr>
        <p:spPr>
          <a:xfrm>
            <a:off x="502920" y="1554480"/>
            <a:ext cx="10972800" cy="365760"/>
          </a:xfrm>
          <a:prstGeom prst="rect">
            <a:avLst/>
          </a:prstGeom>
          <a:noFill/>
        </p:spPr>
        <p:txBody>
          <a:bodyPr wrap="square" anchor="t">
            <a:spAutoFit/>
          </a:bodyPr>
          <a:lstStyle/>
          <a:p>
            <a:pPr algn="l">
              <a:lnSpc>
                <a:spcPct val="104000"/>
              </a:lnSpc>
              <a:spcAft>
                <a:spcPts val="0"/>
              </a:spcAft>
            </a:pPr>
            <a:r>
              <a:rPr sz="1300" b="1">
                <a:solidFill>
                  <a:srgbClr val="C9A227"/>
                </a:solidFill>
                <a:latin typeface="Segoe UI Semibold"/>
              </a:rPr>
              <a:t>NEXT STEPS</a:t>
            </a:r>
          </a:p>
        </p:txBody>
      </p:sp>
      <p:sp>
        <p:nvSpPr>
          <p:cNvPr id="6" name="TextBox 5"/>
          <p:cNvSpPr txBox="1"/>
          <p:nvPr/>
        </p:nvSpPr>
        <p:spPr>
          <a:xfrm>
            <a:off x="502920" y="1965960"/>
            <a:ext cx="10972800" cy="914400"/>
          </a:xfrm>
          <a:prstGeom prst="rect">
            <a:avLst/>
          </a:prstGeom>
          <a:noFill/>
        </p:spPr>
        <p:txBody>
          <a:bodyPr wrap="square" anchor="t">
            <a:spAutoFit/>
          </a:bodyPr>
          <a:lstStyle/>
          <a:p>
            <a:pPr algn="l">
              <a:lnSpc>
                <a:spcPct val="104000"/>
              </a:lnSpc>
              <a:spcAft>
                <a:spcPts val="0"/>
              </a:spcAft>
            </a:pPr>
            <a:r>
              <a:rPr sz="4000" b="1">
                <a:solidFill>
                  <a:srgbClr val="FFFFFF"/>
                </a:solidFill>
                <a:latin typeface="Segoe UI Semibold"/>
              </a:rPr>
              <a:t>Let’s build your plan</a:t>
            </a:r>
          </a:p>
        </p:txBody>
      </p:sp>
      <p:sp>
        <p:nvSpPr>
          <p:cNvPr id="7" name="Rounded Rectangle 6"/>
          <p:cNvSpPr/>
          <p:nvPr/>
        </p:nvSpPr>
        <p:spPr>
          <a:xfrm>
            <a:off x="548640" y="3063240"/>
            <a:ext cx="1828800" cy="548640"/>
          </a:xfrm>
          <a:prstGeom prst="roundRect">
            <a:avLst>
              <a:gd name="adj" fmla="val 1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0B2545"/>
                </a:solidFill>
                <a:latin typeface="Segoe UI"/>
              </a:rPr>
              <a:t>TODAY</a:t>
            </a:r>
          </a:p>
        </p:txBody>
      </p:sp>
      <p:sp>
        <p:nvSpPr>
          <p:cNvPr id="8" name="TextBox 7"/>
          <p:cNvSpPr txBox="1"/>
          <p:nvPr/>
        </p:nvSpPr>
        <p:spPr>
          <a:xfrm>
            <a:off x="2560320" y="3063240"/>
            <a:ext cx="8686800" cy="548640"/>
          </a:xfrm>
          <a:prstGeom prst="rect">
            <a:avLst/>
          </a:prstGeom>
          <a:noFill/>
        </p:spPr>
        <p:txBody>
          <a:bodyPr wrap="square" anchor="ctr">
            <a:spAutoFit/>
          </a:bodyPr>
          <a:lstStyle/>
          <a:p>
            <a:pPr algn="l">
              <a:lnSpc>
                <a:spcPct val="104000"/>
              </a:lnSpc>
              <a:spcAft>
                <a:spcPts val="0"/>
              </a:spcAft>
            </a:pPr>
            <a:r>
              <a:rPr sz="1600" b="0">
                <a:solidFill>
                  <a:srgbClr val="FFFFFF"/>
                </a:solidFill>
                <a:latin typeface="Segoe UI"/>
              </a:rPr>
              <a:t>A few questions so I understand your situation.</a:t>
            </a:r>
          </a:p>
        </p:txBody>
      </p:sp>
      <p:sp>
        <p:nvSpPr>
          <p:cNvPr id="9" name="Rounded Rectangle 8"/>
          <p:cNvSpPr/>
          <p:nvPr/>
        </p:nvSpPr>
        <p:spPr>
          <a:xfrm>
            <a:off x="548640" y="3776472"/>
            <a:ext cx="1828800" cy="548640"/>
          </a:xfrm>
          <a:prstGeom prst="roundRect">
            <a:avLst>
              <a:gd name="adj" fmla="val 1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0B2545"/>
                </a:solidFill>
                <a:latin typeface="Segoe UI"/>
              </a:rPr>
              <a:t>THIS WEEK</a:t>
            </a:r>
          </a:p>
        </p:txBody>
      </p:sp>
      <p:sp>
        <p:nvSpPr>
          <p:cNvPr id="10" name="TextBox 9"/>
          <p:cNvSpPr txBox="1"/>
          <p:nvPr/>
        </p:nvSpPr>
        <p:spPr>
          <a:xfrm>
            <a:off x="2560320" y="3776472"/>
            <a:ext cx="8686800" cy="548640"/>
          </a:xfrm>
          <a:prstGeom prst="rect">
            <a:avLst/>
          </a:prstGeom>
          <a:noFill/>
        </p:spPr>
        <p:txBody>
          <a:bodyPr wrap="square" anchor="ctr">
            <a:spAutoFit/>
          </a:bodyPr>
          <a:lstStyle/>
          <a:p>
            <a:pPr algn="l">
              <a:lnSpc>
                <a:spcPct val="104000"/>
              </a:lnSpc>
              <a:spcAft>
                <a:spcPts val="0"/>
              </a:spcAft>
            </a:pPr>
            <a:r>
              <a:rPr sz="1600" b="0">
                <a:solidFill>
                  <a:srgbClr val="FFFFFF"/>
                </a:solidFill>
                <a:latin typeface="Segoe UI"/>
              </a:rPr>
              <a:t>I prepare personalized options for your review.</a:t>
            </a:r>
          </a:p>
        </p:txBody>
      </p:sp>
      <p:sp>
        <p:nvSpPr>
          <p:cNvPr id="11" name="Rounded Rectangle 10"/>
          <p:cNvSpPr/>
          <p:nvPr/>
        </p:nvSpPr>
        <p:spPr>
          <a:xfrm>
            <a:off x="548640" y="4489704"/>
            <a:ext cx="1828800" cy="548640"/>
          </a:xfrm>
          <a:prstGeom prst="roundRect">
            <a:avLst>
              <a:gd name="adj" fmla="val 18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300" b="1">
                <a:solidFill>
                  <a:srgbClr val="0B2545"/>
                </a:solidFill>
                <a:latin typeface="Segoe UI"/>
              </a:rPr>
              <a:t>THEN</a:t>
            </a:r>
          </a:p>
        </p:txBody>
      </p:sp>
      <p:sp>
        <p:nvSpPr>
          <p:cNvPr id="12" name="TextBox 11"/>
          <p:cNvSpPr txBox="1"/>
          <p:nvPr/>
        </p:nvSpPr>
        <p:spPr>
          <a:xfrm>
            <a:off x="2560320" y="4489704"/>
            <a:ext cx="8686800" cy="548640"/>
          </a:xfrm>
          <a:prstGeom prst="rect">
            <a:avLst/>
          </a:prstGeom>
          <a:noFill/>
        </p:spPr>
        <p:txBody>
          <a:bodyPr wrap="square" anchor="ctr">
            <a:spAutoFit/>
          </a:bodyPr>
          <a:lstStyle/>
          <a:p>
            <a:pPr algn="l">
              <a:lnSpc>
                <a:spcPct val="104000"/>
              </a:lnSpc>
              <a:spcAft>
                <a:spcPts val="0"/>
              </a:spcAft>
            </a:pPr>
            <a:r>
              <a:rPr sz="1600" b="0">
                <a:solidFill>
                  <a:srgbClr val="FFFFFF"/>
                </a:solidFill>
                <a:latin typeface="Segoe UI"/>
              </a:rPr>
              <a:t>You decide what fits — no obligation.</a:t>
            </a:r>
          </a:p>
        </p:txBody>
      </p:sp>
      <p:sp>
        <p:nvSpPr>
          <p:cNvPr id="13" name="Rounded Rectangle 12"/>
          <p:cNvSpPr/>
          <p:nvPr/>
        </p:nvSpPr>
        <p:spPr>
          <a:xfrm>
            <a:off x="548640" y="5349240"/>
            <a:ext cx="5120640" cy="868680"/>
          </a:xfrm>
          <a:prstGeom prst="roundRect">
            <a:avLst>
              <a:gd name="adj" fmla="val 10000"/>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a:solidFill>
                  <a:srgbClr val="0B2545"/>
                </a:solidFill>
                <a:latin typeface="Segoe UI"/>
              </a:rPr>
              <a:t>Book your follow-up</a:t>
            </a:r>
          </a:p>
        </p:txBody>
      </p:sp>
      <p:sp>
        <p:nvSpPr>
          <p:cNvPr id="14" name="TextBox 13"/>
          <p:cNvSpPr txBox="1"/>
          <p:nvPr/>
        </p:nvSpPr>
        <p:spPr>
          <a:xfrm>
            <a:off x="5943600" y="5349240"/>
            <a:ext cx="5760720" cy="868680"/>
          </a:xfrm>
          <a:prstGeom prst="rect">
            <a:avLst/>
          </a:prstGeom>
          <a:noFill/>
        </p:spPr>
        <p:txBody>
          <a:bodyPr wrap="square" anchor="ctr">
            <a:spAutoFit/>
          </a:bodyPr>
          <a:lstStyle/>
          <a:p>
            <a:pPr algn="l">
              <a:lnSpc>
                <a:spcPct val="120000"/>
              </a:lnSpc>
              <a:spcAft>
                <a:spcPts val="0"/>
              </a:spcAft>
            </a:pPr>
            <a:r>
              <a:rPr sz="1400" b="1">
                <a:solidFill>
                  <a:srgbClr val="FFFFFF"/>
                </a:solidFill>
                <a:latin typeface="Segoe UI"/>
              </a:rPr>
              <a:t>Vytas Skapcevicius</a:t>
            </a:r>
          </a:p>
          <a:p>
            <a:pPr algn="l">
              <a:lnSpc>
                <a:spcPct val="120000"/>
              </a:lnSpc>
              <a:spcAft>
                <a:spcPts val="0"/>
              </a:spcAft>
            </a:pPr>
            <a:r>
              <a:rPr sz="1400" b="1">
                <a:solidFill>
                  <a:srgbClr val="FFFFFF"/>
                </a:solidFill>
                <a:latin typeface="Segoe UI"/>
              </a:rPr>
              <a:t>630-785-2412  ·  vytas@goodwillfinancial.com</a:t>
            </a:r>
          </a:p>
        </p:txBody>
      </p:sp>
      <p:sp>
        <p:nvSpPr>
          <p:cNvPr id="15" name="TextBox 14"/>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C9D2DE"/>
                </a:solidFill>
                <a:latin typeface="Segoe UI"/>
              </a:rPr>
              <a:t>Goodwill Financial · Living Benefits Team    |    Educational use only — not financial, tax, or legal advice</a:t>
            </a:r>
          </a:p>
        </p:txBody>
      </p:sp>
      <p:sp>
        <p:nvSpPr>
          <p:cNvPr id="16" name="TextBox 15"/>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C9D2DE"/>
                </a:solidFill>
                <a:latin typeface="Segoe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74320"/>
            <a:ext cx="5486400" cy="365760"/>
          </a:xfrm>
          <a:prstGeom prst="rect">
            <a:avLst/>
          </a:prstGeom>
          <a:noFill/>
        </p:spPr>
        <p:txBody>
          <a:bodyPr wrap="square" anchor="t">
            <a:spAutoFit/>
          </a:bodyPr>
          <a:lstStyle/>
          <a:p>
            <a:pPr algn="l">
              <a:lnSpc>
                <a:spcPct val="104000"/>
              </a:lnSpc>
              <a:spcAft>
                <a:spcPts val="0"/>
              </a:spcAft>
            </a:pPr>
            <a:r>
              <a:rPr sz="1300" b="1">
                <a:solidFill>
                  <a:srgbClr val="0B2545"/>
                </a:solidFill>
                <a:latin typeface="Segoe UI Semibold"/>
              </a:rPr>
              <a:t>GOODWILL FINANCIAL</a:t>
            </a:r>
          </a:p>
        </p:txBody>
      </p:sp>
      <p:sp>
        <p:nvSpPr>
          <p:cNvPr id="3" name="TextBox 2"/>
          <p:cNvSpPr txBox="1"/>
          <p:nvPr/>
        </p:nvSpPr>
        <p:spPr>
          <a:xfrm>
            <a:off x="502920" y="566928"/>
            <a:ext cx="5486400" cy="274320"/>
          </a:xfrm>
          <a:prstGeom prst="rect">
            <a:avLst/>
          </a:prstGeom>
          <a:noFill/>
        </p:spPr>
        <p:txBody>
          <a:bodyPr wrap="square" anchor="t">
            <a:spAutoFit/>
          </a:bodyPr>
          <a:lstStyle/>
          <a:p>
            <a:pPr algn="l">
              <a:lnSpc>
                <a:spcPct val="104000"/>
              </a:lnSpc>
              <a:spcAft>
                <a:spcPts val="0"/>
              </a:spcAft>
            </a:pPr>
            <a:r>
              <a:rPr sz="900" b="1">
                <a:solidFill>
                  <a:srgbClr val="C9A227"/>
                </a:solidFill>
                <a:latin typeface="Segoe UI"/>
              </a:rPr>
              <a:t>LIVING BENEFITS TEAM</a:t>
            </a:r>
          </a:p>
        </p:txBody>
      </p:sp>
      <p:sp>
        <p:nvSpPr>
          <p:cNvPr id="4" name="TextBox 3"/>
          <p:cNvSpPr txBox="1"/>
          <p:nvPr/>
        </p:nvSpPr>
        <p:spPr>
          <a:xfrm>
            <a:off x="502920" y="1188720"/>
            <a:ext cx="10972800" cy="457200"/>
          </a:xfrm>
          <a:prstGeom prst="rect">
            <a:avLst/>
          </a:prstGeom>
          <a:noFill/>
        </p:spPr>
        <p:txBody>
          <a:bodyPr wrap="square" anchor="t">
            <a:spAutoFit/>
          </a:bodyPr>
          <a:lstStyle/>
          <a:p>
            <a:pPr algn="l">
              <a:lnSpc>
                <a:spcPct val="104000"/>
              </a:lnSpc>
              <a:spcAft>
                <a:spcPts val="0"/>
              </a:spcAft>
            </a:pPr>
            <a:r>
              <a:rPr sz="2000" b="1">
                <a:solidFill>
                  <a:srgbClr val="0B2545"/>
                </a:solidFill>
                <a:latin typeface="Segoe UI Semibold"/>
              </a:rPr>
              <a:t>IMPORTANT DISCLOSURES</a:t>
            </a:r>
          </a:p>
        </p:txBody>
      </p:sp>
      <p:sp>
        <p:nvSpPr>
          <p:cNvPr id="5" name="Rectangle 4"/>
          <p:cNvSpPr/>
          <p:nvPr/>
        </p:nvSpPr>
        <p:spPr>
          <a:xfrm>
            <a:off x="521207" y="1691640"/>
            <a:ext cx="56692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74519"/>
            <a:ext cx="11109960" cy="4526280"/>
          </a:xfrm>
          <a:prstGeom prst="rect">
            <a:avLst/>
          </a:prstGeom>
          <a:noFill/>
        </p:spPr>
        <p:txBody>
          <a:bodyPr wrap="square">
            <a:spAutoFit/>
          </a:bodyPr>
          <a:lstStyle/>
          <a:p>
            <a:pPr>
              <a:lnSpc>
                <a:spcPct val="106000"/>
              </a:lnSpc>
              <a:spcAft>
                <a:spcPts val="800"/>
              </a:spcAft>
            </a:pPr>
            <a:r>
              <a:rPr sz="1050">
                <a:solidFill>
                  <a:srgbClr val="6B7280"/>
                </a:solidFill>
                <a:latin typeface="Segoe UI"/>
              </a:rPr>
              <a:t>This presentation is for general educational purposes only and is not financial, tax, or legal advice. Please consult qualified professionals about your specific situation.</a:t>
            </a:r>
          </a:p>
          <a:p>
            <a:pPr>
              <a:lnSpc>
                <a:spcPct val="106000"/>
              </a:lnSpc>
              <a:spcAft>
                <a:spcPts val="800"/>
              </a:spcAft>
            </a:pPr>
            <a:r>
              <a:rPr sz="1050">
                <a:solidFill>
                  <a:srgbClr val="6B7280"/>
                </a:solidFill>
                <a:latin typeface="Segoe UI"/>
              </a:rPr>
              <a:t>Living Benefits are provided through optional Accelerated Benefit Riders (ABR), which may not be available in all states or on all products and may have an additional cost; some riders are available at no additional premium on certain products. Receiving accelerated benefits reduces the policy’s cash value and death benefit, may be a taxable event, and may affect eligibility for public assistance programs. Benefits depend on underwriting, product and state availability, the rider, and claim-time calculations.</a:t>
            </a:r>
          </a:p>
          <a:p>
            <a:pPr>
              <a:lnSpc>
                <a:spcPct val="106000"/>
              </a:lnSpc>
              <a:spcAft>
                <a:spcPts val="800"/>
              </a:spcAft>
            </a:pPr>
            <a:r>
              <a:rPr sz="1050">
                <a:solidFill>
                  <a:srgbClr val="6B7280"/>
                </a:solidFill>
                <a:latin typeface="Segoe UI"/>
              </a:rPr>
              <a:t>Indexed Universal Life (IUL) is life insurance — it is not an investment and does not directly participate in the stock market. Policy loans and withdrawals reduce the cash value and death benefit and may have tax consequences; a policy that lapses with an outstanding loan may trigger a taxable event. Illustrated and projected values are non-guaranteed; actual results may be higher or lower.</a:t>
            </a:r>
          </a:p>
          <a:p>
            <a:pPr>
              <a:lnSpc>
                <a:spcPct val="106000"/>
              </a:lnSpc>
              <a:spcAft>
                <a:spcPts val="800"/>
              </a:spcAft>
            </a:pPr>
            <a:r>
              <a:rPr sz="1050">
                <a:solidFill>
                  <a:srgbClr val="6B7280"/>
                </a:solidFill>
                <a:latin typeface="Segoe UI"/>
              </a:rPr>
              <a:t>Annuity guarantees, including any guaranteed lifetime income, are subject to conditions, rider charges, and the claims-paying ability of the issuing company. Fixed indexed annuities do not directly participate in stock or equity investments.</a:t>
            </a:r>
          </a:p>
          <a:p>
            <a:pPr>
              <a:lnSpc>
                <a:spcPct val="106000"/>
              </a:lnSpc>
              <a:spcAft>
                <a:spcPts val="800"/>
              </a:spcAft>
            </a:pPr>
            <a:r>
              <a:rPr sz="1050">
                <a:solidFill>
                  <a:srgbClr val="6B7280"/>
                </a:solidFill>
                <a:latin typeface="Segoe UI"/>
              </a:rPr>
              <a:t>Guarantees are subject to the claims-paying ability of the issuing company. Life products referenced are issued by National Life Insurance Company, Montpelier, VT, and its affiliate Life Insurance Company of the Southwest (LSW), Addison, TX; National Life Group is a trade name. Property &amp; Casualty and Health coverage is offered through the respective carriers shown. Company logos are the property of their respective owners and are shown to indicate carriers we represent. Products, riders, and features may not be available in all states.</a:t>
            </a:r>
          </a:p>
          <a:p>
            <a:pPr>
              <a:lnSpc>
                <a:spcPct val="106000"/>
              </a:lnSpc>
              <a:spcAft>
                <a:spcPts val="800"/>
              </a:spcAft>
            </a:pPr>
            <a:r>
              <a:rPr sz="1050">
                <a:solidFill>
                  <a:srgbClr val="6B7280"/>
                </a:solidFill>
                <a:latin typeface="Segoe UI"/>
              </a:rPr>
              <a:t>Goodwill Financial / Living Benefits Team · 579 W. North Ave, Suite 300, Elmhurst, IL 60126 · 630-785-2412 · goodwillfinancial.com</a:t>
            </a:r>
          </a:p>
        </p:txBody>
      </p:sp>
      <p:sp>
        <p:nvSpPr>
          <p:cNvPr id="7" name="TextBox 6"/>
          <p:cNvSpPr txBox="1"/>
          <p:nvPr/>
        </p:nvSpPr>
        <p:spPr>
          <a:xfrm>
            <a:off x="502920" y="6455664"/>
            <a:ext cx="9692640" cy="274320"/>
          </a:xfrm>
          <a:prstGeom prst="rect">
            <a:avLst/>
          </a:prstGeom>
          <a:noFill/>
        </p:spPr>
        <p:txBody>
          <a:bodyPr wrap="square" anchor="t">
            <a:spAutoFit/>
          </a:bodyPr>
          <a:lstStyle/>
          <a:p>
            <a:pPr algn="l">
              <a:lnSpc>
                <a:spcPct val="104000"/>
              </a:lnSpc>
              <a:spcAft>
                <a:spcPts val="0"/>
              </a:spcAft>
            </a:pPr>
            <a:r>
              <a:rPr sz="800" b="0">
                <a:solidFill>
                  <a:srgbClr val="6B7280"/>
                </a:solidFill>
                <a:latin typeface="Segoe UI"/>
              </a:rPr>
              <a:t>Goodwill Financial · Living Benefits Team    |    Educational use only — not financial, tax, or legal advice</a:t>
            </a:r>
          </a:p>
        </p:txBody>
      </p:sp>
      <p:sp>
        <p:nvSpPr>
          <p:cNvPr id="8" name="TextBox 7"/>
          <p:cNvSpPr txBox="1"/>
          <p:nvPr/>
        </p:nvSpPr>
        <p:spPr>
          <a:xfrm>
            <a:off x="11292840" y="6455664"/>
            <a:ext cx="548640" cy="274320"/>
          </a:xfrm>
          <a:prstGeom prst="rect">
            <a:avLst/>
          </a:prstGeom>
          <a:noFill/>
        </p:spPr>
        <p:txBody>
          <a:bodyPr wrap="square" anchor="t">
            <a:spAutoFit/>
          </a:bodyPr>
          <a:lstStyle/>
          <a:p>
            <a:pPr algn="r">
              <a:lnSpc>
                <a:spcPct val="104000"/>
              </a:lnSpc>
              <a:spcAft>
                <a:spcPts val="0"/>
              </a:spcAft>
            </a:pPr>
            <a:r>
              <a:rPr sz="900" b="0">
                <a:solidFill>
                  <a:srgbClr val="6B7280"/>
                </a:solidFill>
                <a:latin typeface="Segoe UI"/>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